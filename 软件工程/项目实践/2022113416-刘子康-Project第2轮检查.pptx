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48"/>
  </p:notesMasterIdLst>
  <p:handoutMasterIdLst>
    <p:handoutMasterId r:id="rId49"/>
  </p:handoutMasterIdLst>
  <p:sldIdLst>
    <p:sldId id="297" r:id="rId3"/>
    <p:sldId id="298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15" r:id="rId22"/>
    <p:sldId id="353" r:id="rId23"/>
    <p:sldId id="334" r:id="rId24"/>
    <p:sldId id="335" r:id="rId25"/>
    <p:sldId id="336" r:id="rId26"/>
    <p:sldId id="337" r:id="rId27"/>
    <p:sldId id="340" r:id="rId28"/>
    <p:sldId id="341" r:id="rId29"/>
    <p:sldId id="342" r:id="rId30"/>
    <p:sldId id="311" r:id="rId31"/>
    <p:sldId id="354" r:id="rId32"/>
    <p:sldId id="355" r:id="rId33"/>
    <p:sldId id="356" r:id="rId34"/>
    <p:sldId id="360" r:id="rId35"/>
    <p:sldId id="357" r:id="rId36"/>
    <p:sldId id="358" r:id="rId37"/>
    <p:sldId id="359" r:id="rId38"/>
    <p:sldId id="361" r:id="rId39"/>
    <p:sldId id="362" r:id="rId40"/>
    <p:sldId id="363" r:id="rId41"/>
    <p:sldId id="365" r:id="rId42"/>
    <p:sldId id="366" r:id="rId43"/>
    <p:sldId id="370" r:id="rId44"/>
    <p:sldId id="312" r:id="rId45"/>
    <p:sldId id="316" r:id="rId46"/>
    <p:sldId id="310" r:id="rId4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84" autoAdjust="0"/>
  </p:normalViewPr>
  <p:slideViewPr>
    <p:cSldViewPr showGuides="1">
      <p:cViewPr varScale="1">
        <p:scale>
          <a:sx n="104" d="100"/>
          <a:sy n="104" d="100"/>
        </p:scale>
        <p:origin x="1656" y="114"/>
      </p:cViewPr>
      <p:guideLst>
        <p:guide orient="horz" pos="2160"/>
        <p:guide pos="283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fld id="{E00B01F3-32AD-4BC4-84E8-1E4816CB70A5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t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t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b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b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fld id="{B8DE9E20-473F-4C80-B5B8-9061F40A8512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DE9E20-473F-4C80-B5B8-9061F40A8512}" type="slidenum">
              <a:rPr lang="en-US" altLang="zh-CN" smtClean="0"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0599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 descr="CITTEXT"/>
          <p:cNvSpPr>
            <a:spLocks noChangeArrowheads="1"/>
          </p:cNvSpPr>
          <p:nvPr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6858000 h 3840"/>
              <a:gd name="T2" fmla="*/ 0 w 1824"/>
              <a:gd name="T3" fmla="*/ 0 h 3840"/>
              <a:gd name="T4" fmla="*/ 2895600 w 1824"/>
              <a:gd name="T5" fmla="*/ 0 h 3840"/>
              <a:gd name="T6" fmla="*/ 925513 w 1824"/>
              <a:gd name="T7" fmla="*/ 6858000 h 3840"/>
              <a:gd name="T8" fmla="*/ 0 w 1824"/>
              <a:gd name="T9" fmla="*/ 6858000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6" name="Group 6"/>
          <p:cNvGrpSpPr/>
          <p:nvPr/>
        </p:nvGrpSpPr>
        <p:grpSpPr bwMode="auto">
          <a:xfrm>
            <a:off x="0" y="3567113"/>
            <a:ext cx="5781675" cy="149225"/>
            <a:chOff x="0" y="2256"/>
            <a:chExt cx="3642" cy="94"/>
          </a:xfrm>
        </p:grpSpPr>
        <p:sp>
          <p:nvSpPr>
            <p:cNvPr id="7" name="Freeform 7"/>
            <p:cNvSpPr>
              <a:spLocks noChangeArrowheads="1"/>
            </p:cNvSpPr>
            <p:nvPr userDrawn="1"/>
          </p:nvSpPr>
          <p:spPr bwMode="auto">
            <a:xfrm>
              <a:off x="0" y="2310"/>
              <a:ext cx="3642" cy="1"/>
            </a:xfrm>
            <a:custGeom>
              <a:avLst/>
              <a:gdLst>
                <a:gd name="T0" fmla="*/ 0 w 3642"/>
                <a:gd name="T1" fmla="*/ 0 h 1"/>
                <a:gd name="T2" fmla="*/ 3642 w 364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42" h="1">
                  <a:moveTo>
                    <a:pt x="0" y="0"/>
                  </a:moveTo>
                  <a:lnTo>
                    <a:pt x="3642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8"/>
            <p:cNvGrpSpPr/>
            <p:nvPr userDrawn="1"/>
          </p:nvGrpSpPr>
          <p:grpSpPr bwMode="auto">
            <a:xfrm>
              <a:off x="960" y="2256"/>
              <a:ext cx="1678" cy="94"/>
              <a:chOff x="419" y="1193"/>
              <a:chExt cx="1678" cy="94"/>
            </a:xfrm>
          </p:grpSpPr>
          <p:sp>
            <p:nvSpPr>
              <p:cNvPr id="9" name="Oval 9"/>
              <p:cNvSpPr>
                <a:spLocks noChangeArrowheads="1"/>
              </p:cNvSpPr>
              <p:nvPr/>
            </p:nvSpPr>
            <p:spPr bwMode="auto">
              <a:xfrm>
                <a:off x="419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0" name="Oval 10"/>
              <p:cNvSpPr>
                <a:spLocks noChangeArrowheads="1"/>
              </p:cNvSpPr>
              <p:nvPr/>
            </p:nvSpPr>
            <p:spPr bwMode="auto">
              <a:xfrm>
                <a:off x="947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1" name="Oval 11"/>
              <p:cNvSpPr>
                <a:spLocks noChangeArrowheads="1"/>
              </p:cNvSpPr>
              <p:nvPr/>
            </p:nvSpPr>
            <p:spPr bwMode="auto">
              <a:xfrm>
                <a:off x="1475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2" name="Oval 12"/>
              <p:cNvSpPr>
                <a:spLocks noChangeArrowheads="1"/>
              </p:cNvSpPr>
              <p:nvPr/>
            </p:nvSpPr>
            <p:spPr bwMode="auto">
              <a:xfrm>
                <a:off x="2003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</p:grpSp>
      </p:grp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8104188" y="14288"/>
            <a:ext cx="1004887" cy="3381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6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endParaRPr lang="en-US" altLang="zh-CN" sz="1600" dirty="0">
              <a:latin typeface="楷体" pitchFamily="49" charset="-122"/>
              <a:ea typeface="楷体" pitchFamily="49" charset="-122"/>
              <a:cs typeface="Arial" panose="020B0604020202090204" pitchFamily="34" charset="0"/>
            </a:endParaRPr>
          </a:p>
        </p:txBody>
      </p:sp>
      <p:pic>
        <p:nvPicPr>
          <p:cNvPr id="14" name="Picture 11" descr="工大标志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392613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500313"/>
            <a:ext cx="7772400" cy="641350"/>
          </a:xfrm>
        </p:spPr>
        <p:txBody>
          <a:bodyPr anchor="b">
            <a:spAutoFit/>
          </a:bodyPr>
          <a:lstStyle>
            <a:lvl1pPr algn="ctr">
              <a:defRPr sz="360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83063"/>
            <a:ext cx="6400800" cy="396875"/>
          </a:xfrm>
        </p:spPr>
        <p:txBody>
          <a:bodyPr>
            <a:spAutoFit/>
          </a:bodyPr>
          <a:lstStyle>
            <a:lvl1pPr marL="0" indent="0" algn="ctr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b="0">
                <a:ea typeface="楷体_GB2312" pitchFamily="49" charset="-122"/>
                <a:cs typeface="宋体" pitchFamily="2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484313"/>
            <a:ext cx="4027487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175" y="1484313"/>
            <a:ext cx="4029075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6050" y="508000"/>
            <a:ext cx="2124075" cy="60896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3825" y="508000"/>
            <a:ext cx="6219825" cy="60896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 descr="CITTEXT"/>
          <p:cNvSpPr>
            <a:spLocks noChangeArrowheads="1"/>
          </p:cNvSpPr>
          <p:nvPr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6858000 h 3840"/>
              <a:gd name="T2" fmla="*/ 0 w 1824"/>
              <a:gd name="T3" fmla="*/ 0 h 3840"/>
              <a:gd name="T4" fmla="*/ 2895600 w 1824"/>
              <a:gd name="T5" fmla="*/ 0 h 3840"/>
              <a:gd name="T6" fmla="*/ 925513 w 1824"/>
              <a:gd name="T7" fmla="*/ 6858000 h 3840"/>
              <a:gd name="T8" fmla="*/ 0 w 1824"/>
              <a:gd name="T9" fmla="*/ 6858000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6" name="Group 6"/>
          <p:cNvGrpSpPr/>
          <p:nvPr/>
        </p:nvGrpSpPr>
        <p:grpSpPr bwMode="auto">
          <a:xfrm>
            <a:off x="0" y="3567113"/>
            <a:ext cx="5781675" cy="149225"/>
            <a:chOff x="0" y="2256"/>
            <a:chExt cx="3642" cy="94"/>
          </a:xfrm>
        </p:grpSpPr>
        <p:sp>
          <p:nvSpPr>
            <p:cNvPr id="7" name="Freeform 7"/>
            <p:cNvSpPr>
              <a:spLocks noChangeArrowheads="1"/>
            </p:cNvSpPr>
            <p:nvPr userDrawn="1"/>
          </p:nvSpPr>
          <p:spPr bwMode="auto">
            <a:xfrm>
              <a:off x="0" y="2310"/>
              <a:ext cx="3642" cy="1"/>
            </a:xfrm>
            <a:custGeom>
              <a:avLst/>
              <a:gdLst>
                <a:gd name="T0" fmla="*/ 0 w 3642"/>
                <a:gd name="T1" fmla="*/ 0 h 1"/>
                <a:gd name="T2" fmla="*/ 3642 w 364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42" h="1">
                  <a:moveTo>
                    <a:pt x="0" y="0"/>
                  </a:moveTo>
                  <a:lnTo>
                    <a:pt x="3642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8"/>
            <p:cNvGrpSpPr/>
            <p:nvPr userDrawn="1"/>
          </p:nvGrpSpPr>
          <p:grpSpPr bwMode="auto">
            <a:xfrm>
              <a:off x="960" y="2256"/>
              <a:ext cx="1678" cy="94"/>
              <a:chOff x="419" y="1193"/>
              <a:chExt cx="1678" cy="94"/>
            </a:xfrm>
          </p:grpSpPr>
          <p:sp>
            <p:nvSpPr>
              <p:cNvPr id="9" name="Oval 9"/>
              <p:cNvSpPr>
                <a:spLocks noChangeArrowheads="1"/>
              </p:cNvSpPr>
              <p:nvPr/>
            </p:nvSpPr>
            <p:spPr bwMode="auto">
              <a:xfrm>
                <a:off x="419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0" name="Oval 10"/>
              <p:cNvSpPr>
                <a:spLocks noChangeArrowheads="1"/>
              </p:cNvSpPr>
              <p:nvPr/>
            </p:nvSpPr>
            <p:spPr bwMode="auto">
              <a:xfrm>
                <a:off x="947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1" name="Oval 11"/>
              <p:cNvSpPr>
                <a:spLocks noChangeArrowheads="1"/>
              </p:cNvSpPr>
              <p:nvPr/>
            </p:nvSpPr>
            <p:spPr bwMode="auto">
              <a:xfrm>
                <a:off x="1475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2" name="Oval 12"/>
              <p:cNvSpPr>
                <a:spLocks noChangeArrowheads="1"/>
              </p:cNvSpPr>
              <p:nvPr/>
            </p:nvSpPr>
            <p:spPr bwMode="auto">
              <a:xfrm>
                <a:off x="2003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</p:grpSp>
      </p:grp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8104188" y="14288"/>
            <a:ext cx="1004887" cy="3381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6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endParaRPr lang="en-US" altLang="zh-CN" sz="1600" dirty="0">
              <a:latin typeface="楷体" pitchFamily="49" charset="-122"/>
              <a:ea typeface="楷体" pitchFamily="49" charset="-122"/>
              <a:cs typeface="Arial" panose="020B0604020202090204" pitchFamily="34" charset="0"/>
            </a:endParaRPr>
          </a:p>
        </p:txBody>
      </p:sp>
      <p:pic>
        <p:nvPicPr>
          <p:cNvPr id="14" name="Picture 11" descr="工大标志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392613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500313"/>
            <a:ext cx="7772400" cy="641350"/>
          </a:xfrm>
        </p:spPr>
        <p:txBody>
          <a:bodyPr anchor="b">
            <a:spAutoFit/>
          </a:bodyPr>
          <a:lstStyle>
            <a:lvl1pPr algn="ctr">
              <a:defRPr sz="360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83063"/>
            <a:ext cx="6400800" cy="396875"/>
          </a:xfrm>
        </p:spPr>
        <p:txBody>
          <a:bodyPr>
            <a:spAutoFit/>
          </a:bodyPr>
          <a:lstStyle>
            <a:lvl1pPr marL="0" indent="0" algn="ctr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b="0">
                <a:ea typeface="楷体_GB2312" pitchFamily="49" charset="-122"/>
                <a:cs typeface="宋体" pitchFamily="2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484313"/>
            <a:ext cx="4027487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175" y="1484313"/>
            <a:ext cx="4029075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6050" y="508000"/>
            <a:ext cx="2124075" cy="60896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3825" y="508000"/>
            <a:ext cx="6219825" cy="60896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3825" y="508000"/>
            <a:ext cx="8496300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12"/>
          <p:cNvSpPr>
            <a:spLocks noGrp="1" noChangeArrowheads="1"/>
          </p:cNvSpPr>
          <p:nvPr>
            <p:ph type="body" idx="9"/>
          </p:nvPr>
        </p:nvSpPr>
        <p:spPr bwMode="auto">
          <a:xfrm>
            <a:off x="395288" y="1484313"/>
            <a:ext cx="8208962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Freeform 13"/>
          <p:cNvSpPr>
            <a:spLocks noChangeArrowheads="1"/>
          </p:cNvSpPr>
          <p:nvPr userDrawn="1"/>
        </p:nvSpPr>
        <p:spPr bwMode="auto">
          <a:xfrm>
            <a:off x="152400" y="1268413"/>
            <a:ext cx="7732713" cy="5589587"/>
          </a:xfrm>
          <a:custGeom>
            <a:avLst/>
            <a:gdLst>
              <a:gd name="T0" fmla="*/ 0 w 4320"/>
              <a:gd name="T1" fmla="*/ 5589587 h 3264"/>
              <a:gd name="T2" fmla="*/ 0 w 4320"/>
              <a:gd name="T3" fmla="*/ 0 h 3264"/>
              <a:gd name="T4" fmla="*/ 7732713 w 4320"/>
              <a:gd name="T5" fmla="*/ 0 h 32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" h="3264">
                <a:moveTo>
                  <a:pt x="0" y="3264"/>
                </a:moveTo>
                <a:lnTo>
                  <a:pt x="0" y="0"/>
                </a:lnTo>
                <a:lnTo>
                  <a:pt x="4320" y="0"/>
                </a:lnTo>
              </a:path>
            </a:pathLst>
          </a:custGeom>
          <a:noFill/>
          <a:ln w="952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6" name="Oval 14"/>
          <p:cNvSpPr>
            <a:spLocks noChangeArrowheads="1"/>
          </p:cNvSpPr>
          <p:nvPr/>
        </p:nvSpPr>
        <p:spPr bwMode="auto">
          <a:xfrm>
            <a:off x="6651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7" name="Oval 15"/>
          <p:cNvSpPr>
            <a:spLocks noChangeArrowheads="1"/>
          </p:cNvSpPr>
          <p:nvPr/>
        </p:nvSpPr>
        <p:spPr bwMode="auto">
          <a:xfrm>
            <a:off x="15033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8" name="Oval 16"/>
          <p:cNvSpPr>
            <a:spLocks noChangeArrowheads="1"/>
          </p:cNvSpPr>
          <p:nvPr/>
        </p:nvSpPr>
        <p:spPr bwMode="auto">
          <a:xfrm>
            <a:off x="23415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9" name="Oval 17"/>
          <p:cNvSpPr>
            <a:spLocks noChangeArrowheads="1"/>
          </p:cNvSpPr>
          <p:nvPr/>
        </p:nvSpPr>
        <p:spPr bwMode="auto">
          <a:xfrm>
            <a:off x="31797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1033" name="Rectangle 18"/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4" name="Text Box 19"/>
          <p:cNvSpPr txBox="1">
            <a:spLocks noChangeArrowheads="1"/>
          </p:cNvSpPr>
          <p:nvPr/>
        </p:nvSpPr>
        <p:spPr bwMode="auto">
          <a:xfrm>
            <a:off x="6532563" y="19050"/>
            <a:ext cx="2685351" cy="3231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《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》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第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2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轮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 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检查汇报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9pPr>
    </p:titleStyle>
    <p:bodyStyle>
      <a:lvl1pPr marL="228600" indent="-227330" algn="l" rtl="0" eaLnBrk="0" fontAlgn="base" hangingPunct="0">
        <a:spcBef>
          <a:spcPct val="35000"/>
        </a:spcBef>
        <a:spcAft>
          <a:spcPct val="1500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rgbClr val="000000"/>
          </a:solidFill>
          <a:latin typeface="+mn-lt"/>
          <a:ea typeface="+mn-ea"/>
          <a:cs typeface="+mn-cs"/>
        </a:defRPr>
      </a:lvl1pPr>
      <a:lvl2pPr marL="457200" indent="-227330" algn="l" rtl="0" eaLnBrk="0" fontAlgn="base" hangingPunct="0">
        <a:spcBef>
          <a:spcPct val="25000"/>
        </a:spcBef>
        <a:spcAft>
          <a:spcPct val="15000"/>
        </a:spcAft>
        <a:buClr>
          <a:schemeClr val="accent2"/>
        </a:buClr>
        <a:buFont typeface="Arial" panose="020B0604020202090204" pitchFamily="34" charset="0"/>
        <a:buChar char="–"/>
        <a:defRPr>
          <a:solidFill>
            <a:srgbClr val="000000"/>
          </a:solidFill>
          <a:latin typeface="+mn-lt"/>
          <a:ea typeface="+mn-ea"/>
        </a:defRPr>
      </a:lvl2pPr>
      <a:lvl3pPr marL="682625" indent="-22415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000000"/>
          </a:solidFill>
          <a:latin typeface="+mn-lt"/>
          <a:ea typeface="+mn-ea"/>
        </a:defRPr>
      </a:lvl3pPr>
      <a:lvl4pPr marL="913130" indent="-2273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–"/>
        <a:defRPr sz="1400">
          <a:solidFill>
            <a:srgbClr val="000000"/>
          </a:solidFill>
          <a:latin typeface="+mn-lt"/>
          <a:ea typeface="+mn-ea"/>
        </a:defRPr>
      </a:lvl4pPr>
      <a:lvl5pPr marL="1143000" indent="-2273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5pPr>
      <a:lvl6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6pPr>
      <a:lvl7pPr marL="20574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7pPr>
      <a:lvl8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8pPr>
      <a:lvl9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3825" y="508000"/>
            <a:ext cx="8496300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12"/>
          <p:cNvSpPr>
            <a:spLocks noGrp="1" noChangeArrowheads="1"/>
          </p:cNvSpPr>
          <p:nvPr>
            <p:ph type="body" idx="9"/>
          </p:nvPr>
        </p:nvSpPr>
        <p:spPr bwMode="auto">
          <a:xfrm>
            <a:off x="395288" y="1484313"/>
            <a:ext cx="8208962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052" name="Freeform 13"/>
          <p:cNvSpPr>
            <a:spLocks noChangeArrowheads="1"/>
          </p:cNvSpPr>
          <p:nvPr userDrawn="1"/>
        </p:nvSpPr>
        <p:spPr bwMode="auto">
          <a:xfrm>
            <a:off x="152400" y="1268413"/>
            <a:ext cx="7732713" cy="5589587"/>
          </a:xfrm>
          <a:custGeom>
            <a:avLst/>
            <a:gdLst>
              <a:gd name="T0" fmla="*/ 0 w 4320"/>
              <a:gd name="T1" fmla="*/ 5589587 h 3264"/>
              <a:gd name="T2" fmla="*/ 0 w 4320"/>
              <a:gd name="T3" fmla="*/ 0 h 3264"/>
              <a:gd name="T4" fmla="*/ 7732713 w 4320"/>
              <a:gd name="T5" fmla="*/ 0 h 32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" h="3264">
                <a:moveTo>
                  <a:pt x="0" y="3264"/>
                </a:moveTo>
                <a:lnTo>
                  <a:pt x="0" y="0"/>
                </a:lnTo>
                <a:lnTo>
                  <a:pt x="4320" y="0"/>
                </a:lnTo>
              </a:path>
            </a:pathLst>
          </a:custGeom>
          <a:noFill/>
          <a:ln w="952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6" name="Oval 14"/>
          <p:cNvSpPr>
            <a:spLocks noChangeArrowheads="1"/>
          </p:cNvSpPr>
          <p:nvPr/>
        </p:nvSpPr>
        <p:spPr bwMode="auto">
          <a:xfrm>
            <a:off x="6651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7" name="Oval 15"/>
          <p:cNvSpPr>
            <a:spLocks noChangeArrowheads="1"/>
          </p:cNvSpPr>
          <p:nvPr/>
        </p:nvSpPr>
        <p:spPr bwMode="auto">
          <a:xfrm>
            <a:off x="15033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8" name="Oval 16"/>
          <p:cNvSpPr>
            <a:spLocks noChangeArrowheads="1"/>
          </p:cNvSpPr>
          <p:nvPr/>
        </p:nvSpPr>
        <p:spPr bwMode="auto">
          <a:xfrm>
            <a:off x="23415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9" name="Oval 17"/>
          <p:cNvSpPr>
            <a:spLocks noChangeArrowheads="1"/>
          </p:cNvSpPr>
          <p:nvPr/>
        </p:nvSpPr>
        <p:spPr bwMode="auto">
          <a:xfrm>
            <a:off x="31797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1033" name="Rectangle 18"/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4" name="Text Box 19"/>
          <p:cNvSpPr txBox="1">
            <a:spLocks noChangeArrowheads="1"/>
          </p:cNvSpPr>
          <p:nvPr/>
        </p:nvSpPr>
        <p:spPr bwMode="auto">
          <a:xfrm>
            <a:off x="6532563" y="19050"/>
            <a:ext cx="2685351" cy="3231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《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》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第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2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轮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 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检查汇报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9pPr>
    </p:titleStyle>
    <p:bodyStyle>
      <a:lvl1pPr marL="228600" indent="-227330" algn="l" rtl="0" eaLnBrk="0" fontAlgn="base" hangingPunct="0">
        <a:spcBef>
          <a:spcPct val="35000"/>
        </a:spcBef>
        <a:spcAft>
          <a:spcPct val="1500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rgbClr val="000000"/>
          </a:solidFill>
          <a:latin typeface="+mn-lt"/>
          <a:ea typeface="+mn-ea"/>
          <a:cs typeface="+mn-cs"/>
        </a:defRPr>
      </a:lvl1pPr>
      <a:lvl2pPr marL="457200" indent="-227330" algn="l" rtl="0" eaLnBrk="0" fontAlgn="base" hangingPunct="0">
        <a:spcBef>
          <a:spcPct val="25000"/>
        </a:spcBef>
        <a:spcAft>
          <a:spcPct val="15000"/>
        </a:spcAft>
        <a:buClr>
          <a:schemeClr val="accent2"/>
        </a:buClr>
        <a:buFont typeface="Arial" panose="020B0604020202090204" pitchFamily="34" charset="0"/>
        <a:buChar char="–"/>
        <a:defRPr>
          <a:solidFill>
            <a:srgbClr val="000000"/>
          </a:solidFill>
          <a:latin typeface="+mn-lt"/>
          <a:ea typeface="+mn-ea"/>
        </a:defRPr>
      </a:lvl2pPr>
      <a:lvl3pPr marL="682625" indent="-22415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000000"/>
          </a:solidFill>
          <a:latin typeface="+mn-lt"/>
          <a:ea typeface="+mn-ea"/>
        </a:defRPr>
      </a:lvl3pPr>
      <a:lvl4pPr marL="913130" indent="-2273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–"/>
        <a:defRPr sz="1400">
          <a:solidFill>
            <a:srgbClr val="000000"/>
          </a:solidFill>
          <a:latin typeface="+mn-lt"/>
          <a:ea typeface="+mn-ea"/>
        </a:defRPr>
      </a:lvl4pPr>
      <a:lvl5pPr marL="1143000" indent="-2273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5pPr>
      <a:lvl6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6pPr>
      <a:lvl7pPr marL="20574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7pPr>
      <a:lvl8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8pPr>
      <a:lvl9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1617663"/>
            <a:ext cx="7772400" cy="1506537"/>
          </a:xfrm>
        </p:spPr>
        <p:txBody>
          <a:bodyPr/>
          <a:lstStyle/>
          <a:p>
            <a:pPr eaLnBrk="1" hangingPunct="1"/>
            <a:r>
              <a:rPr lang="zh-CN" altLang="zh-CN" sz="2800" dirty="0"/>
              <a:t>哈工大计算学部</a:t>
            </a:r>
            <a:r>
              <a:rPr lang="en-US" altLang="zh-CN" sz="2800" dirty="0"/>
              <a:t>2025</a:t>
            </a:r>
            <a:r>
              <a:rPr lang="zh-CN" altLang="en-US" sz="2800" dirty="0"/>
              <a:t>年春季学期</a:t>
            </a:r>
            <a:br>
              <a:rPr lang="zh-CN" altLang="en-US" sz="2800" dirty="0"/>
            </a:br>
            <a:r>
              <a:rPr lang="en-US" altLang="zh-CN" sz="2800" dirty="0"/>
              <a:t>《</a:t>
            </a:r>
            <a:r>
              <a:rPr lang="zh-CN" altLang="en-US" sz="2800" dirty="0"/>
              <a:t>软件工程</a:t>
            </a:r>
            <a:r>
              <a:rPr lang="en-US" altLang="zh-CN" sz="2800" dirty="0"/>
              <a:t>》Project</a:t>
            </a:r>
            <a:br>
              <a:rPr lang="en-US" altLang="zh-CN" sz="2800" dirty="0"/>
            </a:br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轮</a:t>
            </a:r>
            <a:r>
              <a:rPr lang="en-US" altLang="zh-CN" dirty="0"/>
              <a:t> </a:t>
            </a:r>
            <a:r>
              <a:rPr lang="zh-CN" altLang="en-US" dirty="0"/>
              <a:t>检查汇报</a:t>
            </a:r>
          </a:p>
        </p:txBody>
      </p:sp>
      <p:sp>
        <p:nvSpPr>
          <p:cNvPr id="7171" name="Rectangle 19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83063"/>
            <a:ext cx="6400800" cy="1137285"/>
          </a:xfrm>
        </p:spPr>
        <p:txBody>
          <a:bodyPr/>
          <a:lstStyle/>
          <a:p>
            <a:pPr eaLnBrk="1" hangingPunct="1"/>
            <a:r>
              <a:rPr lang="zh-CN" altLang="en-US" noProof="1"/>
              <a:t>小组成员：</a:t>
            </a:r>
            <a:r>
              <a:rPr lang="zh-CN" altLang="zh-CN" u="sng" noProof="1"/>
              <a:t>刘子康</a:t>
            </a:r>
            <a:r>
              <a:rPr lang="zh-CN" altLang="en-US" u="sng" noProof="1"/>
              <a:t>、</a:t>
            </a:r>
            <a:r>
              <a:rPr lang="zh-CN" altLang="zh-CN" u="sng" noProof="1"/>
              <a:t>梅朗潇、郄东昕</a:t>
            </a:r>
            <a:endParaRPr lang="zh-CN" altLang="zh-CN" noProof="1"/>
          </a:p>
          <a:p>
            <a:pPr eaLnBrk="1" hangingPunct="1"/>
            <a:endParaRPr lang="zh-CN" altLang="zh-CN" noProof="1"/>
          </a:p>
          <a:p>
            <a:pPr eaLnBrk="1" hangingPunct="1"/>
            <a:fld id="{C89F43D9-17A5-4FEF-9BCE-A1EBF701B548}" type="datetime2">
              <a:rPr lang="zh-CN" altLang="en-US" noProof="1" smtClean="0"/>
              <a:t>2025年6月20日</a:t>
            </a:fld>
            <a:endParaRPr lang="zh-CN" altLang="en-US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选题与分组</a:t>
            </a:r>
          </a:p>
        </p:txBody>
      </p:sp>
      <p:graphicFrame>
        <p:nvGraphicFramePr>
          <p:cNvPr id="138295" name="Group 55"/>
          <p:cNvGraphicFramePr>
            <a:graphicFrameLocks noGrp="1"/>
          </p:cNvGraphicFramePr>
          <p:nvPr/>
        </p:nvGraphicFramePr>
        <p:xfrm>
          <a:off x="468313" y="1412875"/>
          <a:ext cx="8135937" cy="4716464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6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题    目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美味食堂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班    号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2203601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4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姓名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学号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联系方式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组长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/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组员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梅朗潇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2022113404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>
                            <a:noFill/>
                          </a:ln>
                          <a:effectLst/>
                          <a:sym typeface="+mn-ea"/>
                        </a:rPr>
                        <a:t>2022113404@stu.hit.edu.cn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组长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146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刘子康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2022113416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ln>
                            <a:noFill/>
                          </a:ln>
                          <a:effectLst/>
                          <a:sym typeface="+mn-ea"/>
                        </a:rPr>
                        <a:t>2022113416@stu.hit.edu.cn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sym typeface="+mn-ea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组员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郄东昕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2022112040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>
                          <a:ln>
                            <a:noFill/>
                          </a:ln>
                          <a:effectLst/>
                          <a:sym typeface="+mn-ea"/>
                        </a:rPr>
                        <a:t>2022112040@stu.hit.edu.cn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  <a:sym typeface="+mn-ea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组员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20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项目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Github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地址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https://github.com/Ryougi04/canteen-system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指导教师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徐汉川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对题目的理解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用户类型与角色权限</a:t>
            </a:r>
            <a:r>
              <a:rPr lang="en-US" altLang="zh-CN" dirty="0"/>
              <a:t>:</a:t>
            </a:r>
          </a:p>
          <a:p>
            <a:pPr marL="1270" indent="457200" eaLnBrk="1" hangingPunct="1">
              <a:buNone/>
            </a:pPr>
            <a:r>
              <a:rPr lang="zh-CN" altLang="en-US" dirty="0"/>
              <a:t>系统主要面向两类用户</a:t>
            </a:r>
            <a:r>
              <a:rPr lang="en-US" altLang="zh-CN" dirty="0"/>
              <a:t>：</a:t>
            </a: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7287928"/>
              </p:ext>
            </p:extLst>
          </p:nvPr>
        </p:nvGraphicFramePr>
        <p:xfrm>
          <a:off x="576000" y="3009900"/>
          <a:ext cx="7992000" cy="1800000"/>
        </p:xfrm>
        <a:graphic>
          <a:graphicData uri="http://schemas.openxmlformats.org/drawingml/2006/table">
            <a:tbl>
              <a:tblPr/>
              <a:tblGrid>
                <a:gridCol w="29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50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 dirty="0" err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用户角色</a:t>
                      </a:r>
                      <a:endParaRPr lang="en-US" altLang="en-US" sz="1600" b="1" spc="12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 dirty="0" err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权限说明</a:t>
                      </a:r>
                      <a:endParaRPr lang="en-US" altLang="en-US" sz="1600" b="1" spc="12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5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spc="12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charset="-122"/>
                        </a:rPr>
                        <a:t>🎓 </a:t>
                      </a:r>
                      <a:r>
                        <a:rPr lang="en-US" altLang="en-US" sz="1400" spc="12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charset="-122"/>
                        </a:rPr>
                        <a:t>学生</a:t>
                      </a:r>
                      <a:r>
                        <a:rPr lang="en-US" altLang="en-US" sz="1400" spc="12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charset="-122"/>
                        </a:rPr>
                        <a:t>/</a:t>
                      </a:r>
                      <a:r>
                        <a:rPr lang="zh-CN" altLang="en-US" sz="1400" spc="12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charset="-122"/>
                        </a:rPr>
                        <a:t>教职工</a:t>
                      </a:r>
                      <a:r>
                        <a:rPr lang="en-US" altLang="en-US" sz="1400" spc="12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charset="-122"/>
                        </a:rPr>
                        <a:t>（</a:t>
                      </a:r>
                      <a:r>
                        <a:rPr lang="en-US" altLang="en-US" sz="1400" spc="12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charset="-122"/>
                        </a:rPr>
                        <a:t>普通用户</a:t>
                      </a:r>
                      <a:r>
                        <a:rPr lang="en-US" altLang="en-US" sz="1400" spc="12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charset="-122"/>
                        </a:rPr>
                        <a:t>）</a:t>
                      </a:r>
                    </a:p>
                  </a:txBody>
                  <a:tcPr marL="177800" marR="177800" marT="6350" marB="635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spc="12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浏览食堂信息、每日菜单、提交菜品评价、预约包间、查看营养建议。</a:t>
                      </a:r>
                    </a:p>
                  </a:txBody>
                  <a:tcPr marL="177800" marR="177800" marT="6350" marB="635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5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spc="12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charset="-122"/>
                        </a:rPr>
                        <a:t>👨</a:t>
                      </a:r>
                      <a:r>
                        <a:rPr lang="en-US" altLang="zh-CN" sz="1400" spc="12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charset="-122"/>
                        </a:rPr>
                        <a:t>‍</a:t>
                      </a:r>
                      <a:r>
                        <a:rPr lang="zh-CN" altLang="en-US" sz="1400" spc="12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charset="-122"/>
                        </a:rPr>
                        <a:t>🍳 食堂人员（管理用户）</a:t>
                      </a:r>
                    </a:p>
                  </a:txBody>
                  <a:tcPr marL="177800" marR="177800" marT="6350" marB="635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spc="12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charset="-122"/>
                        </a:rPr>
                        <a:t>发布</a:t>
                      </a:r>
                      <a:r>
                        <a:rPr lang="en-US" altLang="zh-CN" sz="1400" spc="12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charset="-122"/>
                        </a:rPr>
                        <a:t>/</a:t>
                      </a:r>
                      <a:r>
                        <a:rPr lang="zh-CN" altLang="en-US" sz="1400" spc="12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微软雅黑" charset="-122"/>
                        </a:rPr>
                        <a:t>编辑每日菜单、查看并分析学生反馈、管理包间预约、调整菜品供应、后台权限配置等。</a:t>
                      </a:r>
                    </a:p>
                  </a:txBody>
                  <a:tcPr marL="177800" marR="177800" marT="6350" marB="635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对题目的理解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95605" y="1484630"/>
            <a:ext cx="3642360" cy="5113020"/>
          </a:xfrm>
        </p:spPr>
        <p:txBody>
          <a:bodyPr/>
          <a:lstStyle/>
          <a:p>
            <a:pPr eaLnBrk="1" hangingPunct="1"/>
            <a:r>
              <a:rPr lang="zh-CN" altLang="en-US" dirty="0"/>
              <a:t>系统核心功能需求</a:t>
            </a:r>
          </a:p>
          <a:p>
            <a:pPr eaLnBrk="1" hangingPunct="1"/>
            <a:r>
              <a:rPr lang="en-US" altLang="zh-CN" sz="1600" dirty="0"/>
              <a:t>1. </a:t>
            </a:r>
            <a:r>
              <a:rPr lang="zh-CN" altLang="en-US" sz="1600" dirty="0"/>
              <a:t>信息发布功能</a:t>
            </a:r>
          </a:p>
          <a:p>
            <a:pPr marL="1270" indent="457200" eaLnBrk="1" hangingPunct="1">
              <a:buNone/>
            </a:pPr>
            <a:r>
              <a:rPr lang="zh-CN" altLang="en-US" sz="1600" dirty="0"/>
              <a:t>浏览各食堂基本信息（位置、图片、主营菜色、营业时间等）；</a:t>
            </a:r>
          </a:p>
          <a:p>
            <a:pPr marL="1270" indent="457200" eaLnBrk="1" hangingPunct="1">
              <a:buNone/>
            </a:pPr>
            <a:r>
              <a:rPr lang="zh-CN" altLang="en-US" sz="1600" dirty="0"/>
              <a:t>查看每日菜单，包含菜品名称、图片、价格等；</a:t>
            </a:r>
          </a:p>
          <a:p>
            <a:pPr eaLnBrk="1" hangingPunct="1"/>
            <a:r>
              <a:rPr lang="en-US" altLang="zh-CN" sz="1600" dirty="0"/>
              <a:t>2. </a:t>
            </a:r>
            <a:r>
              <a:rPr lang="zh-CN" altLang="en-US" sz="1600" dirty="0"/>
              <a:t>用户互动功能</a:t>
            </a:r>
          </a:p>
          <a:p>
            <a:pPr marL="1270" indent="457200" eaLnBrk="1" hangingPunct="1">
              <a:buNone/>
            </a:pPr>
            <a:r>
              <a:rPr lang="zh-CN" altLang="en-US" sz="1600" dirty="0"/>
              <a:t>学生可对菜品进行点赞、评分、评论；</a:t>
            </a:r>
          </a:p>
          <a:p>
            <a:pPr marL="1270" indent="457200" eaLnBrk="1" hangingPunct="1">
              <a:buNone/>
            </a:pPr>
            <a:r>
              <a:rPr lang="zh-CN" altLang="en-US" sz="1600" dirty="0"/>
              <a:t>根据评价反馈自动形成排行榜或推荐列表</a:t>
            </a:r>
            <a:r>
              <a:rPr lang="en-US" altLang="zh-CN" sz="1600" dirty="0"/>
              <a:t>，</a:t>
            </a:r>
            <a:r>
              <a:rPr lang="zh-CN" altLang="en-US" sz="1600" dirty="0"/>
              <a:t>可供食堂参考下架或保留菜品。</a:t>
            </a:r>
          </a:p>
          <a:p>
            <a:pPr eaLnBrk="1" hangingPunct="1"/>
            <a:r>
              <a:rPr lang="en-US" altLang="zh-CN" sz="1600" dirty="0"/>
              <a:t>3. </a:t>
            </a:r>
            <a:r>
              <a:rPr lang="zh-CN" altLang="en-US" sz="1600" dirty="0"/>
              <a:t>预约服务功能</a:t>
            </a:r>
            <a:r>
              <a:rPr lang="en-US" altLang="zh-CN" sz="1600" dirty="0"/>
              <a:t>	</a:t>
            </a:r>
          </a:p>
          <a:p>
            <a:pPr marL="1270" indent="457200" eaLnBrk="1" hangingPunct="1">
              <a:buNone/>
            </a:pPr>
            <a:r>
              <a:rPr lang="zh-CN" altLang="en-US" sz="1600" dirty="0"/>
              <a:t>提供包间</a:t>
            </a:r>
            <a:r>
              <a:rPr lang="en-US" altLang="zh-CN" sz="1600" dirty="0"/>
              <a:t>/</a:t>
            </a:r>
            <a:r>
              <a:rPr lang="zh-CN" altLang="en-US" sz="1600" dirty="0"/>
              <a:t>宴会预约；</a:t>
            </a:r>
          </a:p>
          <a:p>
            <a:pPr marL="1270" indent="457200" eaLnBrk="1" hangingPunct="1">
              <a:buNone/>
            </a:pPr>
            <a:r>
              <a:rPr lang="zh-CN" altLang="en-US" sz="1600" dirty="0"/>
              <a:t>提交定制要求，预约时间与人数</a:t>
            </a:r>
            <a:r>
              <a:rPr lang="en-US" altLang="zh-CN" sz="1600" dirty="0"/>
              <a:t>；</a:t>
            </a:r>
            <a:r>
              <a:rPr lang="zh-CN" altLang="en-US" sz="1600" dirty="0"/>
              <a:t>食堂后台进行订单管理。</a:t>
            </a:r>
          </a:p>
          <a:p>
            <a:pPr marL="1270" indent="457200" eaLnBrk="1" hangingPunct="1">
              <a:buNone/>
            </a:pPr>
            <a:endParaRPr lang="zh-CN" altLang="en-US" sz="1600" dirty="0"/>
          </a:p>
        </p:txBody>
      </p:sp>
      <p:sp>
        <p:nvSpPr>
          <p:cNvPr id="5" name="Rectangle 3"/>
          <p:cNvSpPr>
            <a:spLocks noGrp="1" noChangeArrowheads="1"/>
          </p:cNvSpPr>
          <p:nvPr/>
        </p:nvSpPr>
        <p:spPr>
          <a:xfrm>
            <a:off x="4643755" y="1484630"/>
            <a:ext cx="3642360" cy="51130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spcBef>
                <a:spcPct val="35000"/>
              </a:spcBef>
              <a:spcAft>
                <a:spcPct val="15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-227330" algn="l" rtl="0" eaLnBrk="0" fontAlgn="base" hangingPunct="0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" panose="020B0604020202090204" pitchFamily="34" charset="0"/>
              <a:buChar char="–"/>
              <a:defRPr>
                <a:solidFill>
                  <a:srgbClr val="000000"/>
                </a:solidFill>
                <a:latin typeface="+mn-lt"/>
                <a:ea typeface="+mn-ea"/>
              </a:defRPr>
            </a:lvl2pPr>
            <a:lvl3pPr marL="682625" indent="-224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600">
                <a:solidFill>
                  <a:srgbClr val="000000"/>
                </a:solidFill>
                <a:latin typeface="+mn-lt"/>
                <a:ea typeface="+mn-ea"/>
              </a:defRPr>
            </a:lvl3pPr>
            <a:lvl4pPr marL="913130" indent="-2273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+mn-lt"/>
                <a:ea typeface="+mn-ea"/>
              </a:defRPr>
            </a:lvl4pPr>
            <a:lvl5pPr marL="1143000" indent="-2273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9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5pPr>
            <a:lvl6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9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6pPr>
            <a:lvl7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9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7pPr>
            <a:lvl8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9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8pPr>
            <a:lvl9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9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en-US" altLang="zh-CN" sz="1600"/>
              <a:t>4. </a:t>
            </a:r>
            <a:r>
              <a:rPr lang="zh-CN" altLang="en-US" sz="1600"/>
              <a:t>健康饮食功能</a:t>
            </a:r>
          </a:p>
          <a:p>
            <a:pPr marL="1270" indent="457200" eaLnBrk="1" hangingPunct="1">
              <a:buNone/>
            </a:pPr>
            <a:r>
              <a:rPr lang="zh-CN" altLang="en-US" sz="1600"/>
              <a:t>根据学生输入的标签或历史偏好提供饮食建议；</a:t>
            </a:r>
          </a:p>
          <a:p>
            <a:pPr marL="1270" indent="457200" eaLnBrk="1" hangingPunct="1">
              <a:buNone/>
            </a:pPr>
            <a:r>
              <a:rPr lang="zh-CN" altLang="en-US" sz="1600"/>
              <a:t>展示每道菜的营养成分（如脂肪、蛋白质、过敏源提示）；</a:t>
            </a:r>
            <a:endParaRPr lang="en-US" altLang="zh-CN" sz="1600"/>
          </a:p>
          <a:p>
            <a:pPr eaLnBrk="1" hangingPunct="1"/>
            <a:r>
              <a:rPr lang="en-US" altLang="zh-CN" sz="1600"/>
              <a:t>5. </a:t>
            </a:r>
            <a:r>
              <a:rPr lang="zh-CN" altLang="en-US" sz="1600"/>
              <a:t>权限与安全</a:t>
            </a:r>
            <a:r>
              <a:rPr lang="en-US" altLang="zh-CN" sz="1600"/>
              <a:t>		</a:t>
            </a:r>
          </a:p>
          <a:p>
            <a:pPr marL="1270" indent="457200" eaLnBrk="1" hangingPunct="1">
              <a:buNone/>
            </a:pPr>
            <a:r>
              <a:rPr lang="zh-CN" altLang="en-US" sz="1600"/>
              <a:t>登录鉴权（用户名</a:t>
            </a:r>
            <a:r>
              <a:rPr lang="en-US" altLang="zh-CN" sz="1600"/>
              <a:t>/</a:t>
            </a:r>
            <a:r>
              <a:rPr lang="zh-CN" altLang="en-US" sz="1600"/>
              <a:t>密码）；</a:t>
            </a:r>
          </a:p>
          <a:p>
            <a:pPr marL="1270" indent="457200" eaLnBrk="1" hangingPunct="1">
              <a:buNone/>
            </a:pPr>
            <a:r>
              <a:rPr lang="zh-CN" altLang="en-US" sz="1600"/>
              <a:t>权限路由控制（学生用户不能发布菜单）；</a:t>
            </a:r>
          </a:p>
          <a:p>
            <a:pPr marL="1270" indent="457200" eaLnBrk="1" hangingPunct="1">
              <a:buNone/>
            </a:pPr>
            <a:r>
              <a:rPr lang="zh-CN" altLang="en-US" sz="1600"/>
              <a:t>后台管理功能需权限认证。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功能清单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270" indent="0" eaLnBrk="1" hangingPunct="1">
              <a:buNone/>
            </a:pPr>
            <a:r>
              <a:rPr lang="en-US" altLang="zh-CN" dirty="0"/>
              <a:t>1. </a:t>
            </a:r>
            <a:r>
              <a:rPr lang="zh-CN" altLang="en-US" dirty="0"/>
              <a:t>🏫</a:t>
            </a:r>
            <a:r>
              <a:rPr lang="en-US" altLang="zh-CN" dirty="0"/>
              <a:t> </a:t>
            </a:r>
            <a:r>
              <a:rPr lang="zh-CN" altLang="en-US" dirty="0"/>
              <a:t>食堂信息浏览（编号：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功能描述：展示各食堂的基本信息，包括位置、照片、主营菜品、营业时间等。</a:t>
            </a:r>
          </a:p>
          <a:p>
            <a:pPr marL="1270" indent="0" eaLnBrk="1" hangingPunct="1">
              <a:buNone/>
            </a:pPr>
            <a:r>
              <a:rPr lang="en-US" altLang="zh-CN" dirty="0"/>
              <a:t>2. </a:t>
            </a:r>
            <a:r>
              <a:rPr lang="zh-CN" altLang="en-US" dirty="0"/>
              <a:t>📅</a:t>
            </a:r>
            <a:r>
              <a:rPr lang="en-US" altLang="zh-CN" dirty="0"/>
              <a:t> </a:t>
            </a:r>
            <a:r>
              <a:rPr lang="zh-CN" altLang="en-US" dirty="0"/>
              <a:t>查看每日菜单（编号：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功能描述：每个食堂每日每餐的菜单信息，包括菜品名称、图片、价格</a:t>
            </a:r>
            <a:r>
              <a:rPr lang="en-US" altLang="zh-CN" dirty="0"/>
              <a:t>、</a:t>
            </a:r>
            <a:r>
              <a:rPr lang="zh-CN" altLang="en-US" dirty="0"/>
              <a:t>热量</a:t>
            </a:r>
            <a:r>
              <a:rPr lang="en-US" altLang="zh-CN" dirty="0"/>
              <a:t>、</a:t>
            </a:r>
            <a:r>
              <a:rPr lang="zh-CN" altLang="en-US" dirty="0"/>
              <a:t>营养成分</a:t>
            </a:r>
            <a:r>
              <a:rPr lang="en-US" altLang="zh-CN" dirty="0"/>
              <a:t>、</a:t>
            </a:r>
            <a:r>
              <a:rPr lang="zh-CN" altLang="en-US" dirty="0"/>
              <a:t>过敏原信息等。</a:t>
            </a:r>
            <a:endParaRPr lang="en-US" altLang="zh-CN" dirty="0"/>
          </a:p>
          <a:p>
            <a:pPr marL="1270" indent="0" eaLnBrk="1" hangingPunct="1">
              <a:buNone/>
            </a:pPr>
            <a:r>
              <a:rPr lang="en-US" altLang="zh-CN" dirty="0"/>
              <a:t>3. </a:t>
            </a:r>
            <a:r>
              <a:rPr lang="zh-CN" altLang="en-US" dirty="0"/>
              <a:t>🗳</a:t>
            </a:r>
            <a:r>
              <a:rPr lang="en-US" altLang="zh-CN" dirty="0"/>
              <a:t> </a:t>
            </a:r>
            <a:r>
              <a:rPr lang="zh-CN" altLang="en-US" dirty="0"/>
              <a:t>菜品评价系统（编号：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功能描述：学生可以对菜品进行点赞、评分和评论。</a:t>
            </a:r>
          </a:p>
          <a:p>
            <a:pPr marL="1270" indent="0" eaLnBrk="1" hangingPunct="1">
              <a:buNone/>
            </a:pPr>
            <a:r>
              <a:rPr lang="en-US" altLang="zh-CN" dirty="0"/>
              <a:t>4. </a:t>
            </a:r>
            <a:r>
              <a:rPr lang="zh-CN" altLang="en-US" dirty="0"/>
              <a:t>🔍</a:t>
            </a:r>
            <a:r>
              <a:rPr lang="en-US" altLang="zh-CN" dirty="0"/>
              <a:t> </a:t>
            </a:r>
            <a:r>
              <a:rPr lang="zh-CN" altLang="en-US" dirty="0"/>
              <a:t>学生反馈分析（编号：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功能描述：食堂管理者查看学生评论和统计图，分析菜品受欢迎程度。</a:t>
            </a:r>
          </a:p>
          <a:p>
            <a:pPr algn="l"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功能清单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270" indent="0" algn="l" eaLnBrk="1" hangingPunct="1">
              <a:buNone/>
            </a:pPr>
            <a:r>
              <a:rPr lang="en-US" altLang="zh-CN" dirty="0"/>
              <a:t>5. </a:t>
            </a:r>
            <a:r>
              <a:rPr lang="zh-CN" altLang="en-US" dirty="0"/>
              <a:t>🎉</a:t>
            </a:r>
            <a:r>
              <a:rPr lang="en-US" altLang="zh-CN" dirty="0"/>
              <a:t> </a:t>
            </a:r>
            <a:r>
              <a:rPr lang="zh-CN" altLang="en-US" dirty="0"/>
              <a:t>包间与宴会预约（编号：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功能描述：学生可在线预约包间，提交定制要求（如生日宴）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6. </a:t>
            </a:r>
            <a:r>
              <a:rPr lang="zh-CN" altLang="en-US" dirty="0"/>
              <a:t>🛠</a:t>
            </a:r>
            <a:r>
              <a:rPr lang="en-US" altLang="zh-CN" dirty="0"/>
              <a:t> </a:t>
            </a:r>
            <a:r>
              <a:rPr lang="zh-CN" altLang="en-US" dirty="0"/>
              <a:t>包间预约管理（编号：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功能描述：管理人员后台处理预约申请，查看时间冲突与安排表。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7. </a:t>
            </a:r>
            <a:r>
              <a:rPr lang="zh-CN" altLang="en-US" dirty="0"/>
              <a:t>🍽</a:t>
            </a:r>
            <a:r>
              <a:rPr lang="en-US" altLang="zh-CN" dirty="0"/>
              <a:t> </a:t>
            </a:r>
            <a:r>
              <a:rPr lang="zh-CN" altLang="en-US" dirty="0"/>
              <a:t>健康饮食建议（编号：</a:t>
            </a:r>
            <a:r>
              <a:rPr lang="en-US" altLang="zh-CN" dirty="0"/>
              <a:t>7</a:t>
            </a:r>
            <a:r>
              <a:rPr lang="zh-CN" altLang="en-US" dirty="0"/>
              <a:t>）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功能描述：系统提供营养搭配建议，个性化推荐健康菜品。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8. </a:t>
            </a:r>
            <a:r>
              <a:rPr lang="zh-CN" altLang="en-US" dirty="0"/>
              <a:t>🧑</a:t>
            </a:r>
            <a:r>
              <a:rPr lang="en-US" altLang="zh-CN" dirty="0"/>
              <a:t>‍</a:t>
            </a:r>
            <a:r>
              <a:rPr lang="zh-CN" altLang="en-US" dirty="0"/>
              <a:t>💼</a:t>
            </a:r>
            <a:r>
              <a:rPr lang="en-US" altLang="zh-CN" dirty="0"/>
              <a:t> </a:t>
            </a:r>
            <a:r>
              <a:rPr lang="zh-CN" altLang="en-US" dirty="0"/>
              <a:t>用户权限管理（编号：</a:t>
            </a:r>
            <a:r>
              <a:rPr lang="en-US" altLang="zh-CN" dirty="0"/>
              <a:t>8</a:t>
            </a:r>
            <a:r>
              <a:rPr lang="zh-CN" altLang="en-US" dirty="0"/>
              <a:t>）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功能描述：系统根据身份自动分配功能权限（如学生、食堂人员、管理员）。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功能清单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270" indent="0" algn="l" eaLnBrk="1" hangingPunct="1">
              <a:buNone/>
            </a:pPr>
            <a:r>
              <a:rPr lang="en-US" altLang="zh-CN" dirty="0"/>
              <a:t>9. </a:t>
            </a:r>
            <a:r>
              <a:rPr lang="zh-CN" altLang="en-US" dirty="0"/>
              <a:t>🤖</a:t>
            </a:r>
            <a:r>
              <a:rPr lang="en-US" altLang="zh-CN" dirty="0"/>
              <a:t> </a:t>
            </a:r>
            <a:r>
              <a:rPr lang="zh-CN" altLang="en-US" dirty="0"/>
              <a:t>智能菜单推荐（编号：</a:t>
            </a:r>
            <a:r>
              <a:rPr lang="en-US" altLang="zh-CN" dirty="0"/>
              <a:t>9</a:t>
            </a:r>
            <a:r>
              <a:rPr lang="zh-CN" altLang="en-US" dirty="0"/>
              <a:t>）</a:t>
            </a:r>
            <a:r>
              <a:rPr lang="en-US" altLang="zh-CN" dirty="0"/>
              <a:t>*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功能描述：基于历史评价记录智能推荐菜品组合。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10. </a:t>
            </a:r>
            <a:r>
              <a:rPr lang="zh-CN" altLang="en-US" dirty="0"/>
              <a:t>💳</a:t>
            </a:r>
            <a:r>
              <a:rPr lang="en-US" altLang="zh-CN" dirty="0"/>
              <a:t> </a:t>
            </a:r>
            <a:r>
              <a:rPr lang="zh-CN" altLang="en-US" dirty="0"/>
              <a:t>余额提醒与充值跳转（编号：</a:t>
            </a:r>
            <a:r>
              <a:rPr lang="en-US" altLang="zh-CN" dirty="0"/>
              <a:t>10</a:t>
            </a:r>
            <a:r>
              <a:rPr lang="zh-CN" altLang="en-US" dirty="0"/>
              <a:t>）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功能描述：当饭卡余额不足时提示并引导跳转充值系统。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11. </a:t>
            </a:r>
            <a:r>
              <a:rPr lang="zh-CN" altLang="en-US" dirty="0"/>
              <a:t>🏆</a:t>
            </a:r>
            <a:r>
              <a:rPr lang="en-US" altLang="zh-CN" dirty="0"/>
              <a:t> </a:t>
            </a:r>
            <a:r>
              <a:rPr lang="zh-CN" altLang="en-US" dirty="0"/>
              <a:t>菜品排行榜展示（编号：</a:t>
            </a:r>
            <a:r>
              <a:rPr lang="en-US" altLang="zh-CN" dirty="0"/>
              <a:t>11</a:t>
            </a:r>
            <a:r>
              <a:rPr lang="zh-CN" altLang="en-US" dirty="0"/>
              <a:t>）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功能描述：展示当天点赞数或评分最高的菜品排行榜。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12. </a:t>
            </a:r>
            <a:r>
              <a:rPr lang="zh-CN" altLang="en-US" dirty="0"/>
              <a:t>📈</a:t>
            </a:r>
            <a:r>
              <a:rPr lang="en-US" altLang="zh-CN" dirty="0"/>
              <a:t> </a:t>
            </a:r>
            <a:r>
              <a:rPr lang="zh-CN" altLang="en-US" dirty="0"/>
              <a:t>菜品统计图表分析（编号：</a:t>
            </a:r>
            <a:r>
              <a:rPr lang="en-US" altLang="zh-CN" dirty="0"/>
              <a:t>12</a:t>
            </a:r>
            <a:r>
              <a:rPr lang="zh-CN" altLang="en-US" dirty="0"/>
              <a:t>）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功能描述：展示每周菜品评价分布等统计图。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13. </a:t>
            </a:r>
            <a:r>
              <a:rPr lang="zh-CN" altLang="en-US" dirty="0"/>
              <a:t>📉</a:t>
            </a:r>
            <a:r>
              <a:rPr lang="en-US" altLang="zh-CN" dirty="0"/>
              <a:t> </a:t>
            </a:r>
            <a:r>
              <a:rPr lang="zh-CN" altLang="en-US" dirty="0"/>
              <a:t>食堂调度与采购优化（编号：</a:t>
            </a:r>
            <a:r>
              <a:rPr lang="en-US" altLang="zh-CN" dirty="0"/>
              <a:t>13</a:t>
            </a:r>
            <a:r>
              <a:rPr lang="zh-CN" altLang="en-US" dirty="0"/>
              <a:t>）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功能描述：根据就餐数据自动优化人员调度与食材采购计划。</a:t>
            </a:r>
          </a:p>
          <a:p>
            <a:pPr marL="1270" indent="0" algn="l" eaLnBrk="1" hangingPunct="1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非功能需求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270" indent="0" eaLnBrk="1" hangingPunct="1">
              <a:buNone/>
            </a:pPr>
            <a:r>
              <a:rPr lang="en-US" altLang="zh-CN"/>
              <a:t>1. </a:t>
            </a:r>
            <a:r>
              <a:rPr lang="zh-CN" altLang="en-US"/>
              <a:t>性能需求（</a:t>
            </a:r>
            <a:r>
              <a:rPr lang="en-US" altLang="zh-CN"/>
              <a:t>Performance</a:t>
            </a:r>
            <a:r>
              <a:rPr lang="zh-CN" altLang="en-US"/>
              <a:t>）</a:t>
            </a:r>
          </a:p>
          <a:p>
            <a:pPr marL="1270" indent="0" eaLnBrk="1" hangingPunct="1">
              <a:buNone/>
            </a:pPr>
            <a:r>
              <a:rPr lang="zh-CN" altLang="en-US"/>
              <a:t>内容：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系统首页、菜单查询、评价提交等操作响应时间应</a:t>
            </a:r>
            <a:r>
              <a:rPr lang="en-US" altLang="zh-CN"/>
              <a:t> ≤ 1 </a:t>
            </a:r>
            <a:r>
              <a:rPr lang="zh-CN" altLang="en-US"/>
              <a:t>秒；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并发用户量支持不少于</a:t>
            </a:r>
            <a:r>
              <a:rPr lang="en-US" altLang="zh-CN"/>
              <a:t> 50 </a:t>
            </a:r>
            <a:r>
              <a:rPr lang="zh-CN" altLang="en-US"/>
              <a:t>人在线使用；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菜单页面加载图片总时间</a:t>
            </a:r>
            <a:r>
              <a:rPr lang="en-US" altLang="zh-CN"/>
              <a:t> ≤ 3 </a:t>
            </a:r>
            <a:r>
              <a:rPr lang="zh-CN" altLang="en-US"/>
              <a:t>秒（在正常网络下）；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支持高峰时段（如午饭前）页面不卡顿、数据不丢失。</a:t>
            </a:r>
          </a:p>
          <a:p>
            <a:pPr marL="1270" indent="0" eaLnBrk="1" hangingPunct="1">
              <a:buNone/>
            </a:pPr>
            <a:r>
              <a:rPr lang="zh-CN" altLang="en-US"/>
              <a:t>原因：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学生使用系统多集中在早中晚饭前，需保证响应快、不崩溃；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提升系统流畅性与可用性，增强用户体验。</a:t>
            </a:r>
          </a:p>
          <a:p>
            <a:pPr marL="1270" indent="0" eaLnBrk="1" hangingPunct="1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非功能需求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270" indent="0" eaLnBrk="1" hangingPunct="1">
              <a:buNone/>
            </a:pPr>
            <a:r>
              <a:rPr lang="en-US" altLang="zh-CN"/>
              <a:t>2. </a:t>
            </a:r>
            <a:r>
              <a:rPr lang="zh-CN" altLang="en-US"/>
              <a:t>可用性（</a:t>
            </a:r>
            <a:r>
              <a:rPr lang="en-US" altLang="zh-CN"/>
              <a:t>Usability</a:t>
            </a:r>
            <a:r>
              <a:rPr lang="zh-CN" altLang="en-US"/>
              <a:t>）</a:t>
            </a:r>
          </a:p>
          <a:p>
            <a:pPr marL="1270" indent="0" eaLnBrk="1" hangingPunct="1">
              <a:buNone/>
            </a:pPr>
            <a:r>
              <a:rPr lang="zh-CN" altLang="en-US"/>
              <a:t>内容：</a:t>
            </a:r>
          </a:p>
          <a:p>
            <a:pPr marL="1270" indent="0" eaLnBrk="1" hangingPunct="1">
              <a:buNone/>
            </a:pPr>
            <a:r>
              <a:rPr lang="en-US" altLang="zh-CN"/>
              <a:t>	•UI</a:t>
            </a:r>
            <a:r>
              <a:rPr lang="zh-CN" altLang="en-US"/>
              <a:t>简洁、结构清晰，适配移动端浏览（</a:t>
            </a:r>
            <a:r>
              <a:rPr lang="en-US" altLang="zh-CN"/>
              <a:t>“</a:t>
            </a:r>
            <a:r>
              <a:rPr lang="zh-CN" altLang="en-US"/>
              <a:t>掌上食堂</a:t>
            </a:r>
            <a:r>
              <a:rPr lang="en-US" altLang="zh-CN"/>
              <a:t>”</a:t>
            </a:r>
            <a:r>
              <a:rPr lang="zh-CN" altLang="en-US"/>
              <a:t>）；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所有核心操作</a:t>
            </a:r>
            <a:r>
              <a:rPr lang="en-US" altLang="zh-CN"/>
              <a:t> ≤ 3 </a:t>
            </a:r>
            <a:r>
              <a:rPr lang="zh-CN" altLang="en-US"/>
              <a:t>步完成（如查菜单、下预定、评价）；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支持表单校验、错误提示与提示引导；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提供图标、颜色区分各模块，降低使用学习成本。</a:t>
            </a:r>
          </a:p>
          <a:p>
            <a:pPr marL="1270" indent="0" eaLnBrk="1" hangingPunct="1">
              <a:buNone/>
            </a:pPr>
            <a:r>
              <a:rPr lang="zh-CN" altLang="en-US"/>
              <a:t>原因：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用户以学生为主，操作频次高，界面应直观、易上手；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增强访问与使用的便利性，提高接受度与满意度。</a:t>
            </a:r>
          </a:p>
          <a:p>
            <a:pPr marL="1270" indent="0" eaLnBrk="1" hangingPunct="1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非功能需求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270" indent="0" eaLnBrk="1" hangingPunct="1">
              <a:buNone/>
            </a:pPr>
            <a:r>
              <a:rPr lang="en-US" altLang="zh-CN" dirty="0"/>
              <a:t>3. </a:t>
            </a:r>
            <a:r>
              <a:rPr lang="zh-CN" altLang="en-US" dirty="0"/>
              <a:t>可靠性与安全性（</a:t>
            </a:r>
            <a:r>
              <a:rPr lang="en-US" altLang="zh-CN" dirty="0" err="1"/>
              <a:t>Reliability&amp;safety</a:t>
            </a:r>
            <a:r>
              <a:rPr lang="zh-CN" altLang="en-US" dirty="0"/>
              <a:t>）</a:t>
            </a:r>
          </a:p>
          <a:p>
            <a:pPr marL="1270" indent="0" eaLnBrk="1" hangingPunct="1">
              <a:buNone/>
            </a:pPr>
            <a:r>
              <a:rPr lang="zh-CN" altLang="en-US" dirty="0"/>
              <a:t>内容：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</a:t>
            </a:r>
            <a:r>
              <a:rPr lang="zh-CN" altLang="en-US" dirty="0"/>
              <a:t>正常使用下</a:t>
            </a:r>
            <a:r>
              <a:rPr lang="en-US" altLang="zh-CN" dirty="0"/>
              <a:t> 99% </a:t>
            </a:r>
            <a:r>
              <a:rPr lang="zh-CN" altLang="en-US" dirty="0"/>
              <a:t>的时间可用（即系统稳定无故障）；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</a:t>
            </a:r>
            <a:r>
              <a:rPr lang="zh-CN" altLang="en-US" dirty="0"/>
              <a:t>登录状态需保持一段时间（如</a:t>
            </a:r>
            <a:r>
              <a:rPr lang="en-US" altLang="zh-CN" dirty="0"/>
              <a:t>2</a:t>
            </a:r>
            <a:r>
              <a:rPr lang="zh-CN" altLang="en-US" dirty="0"/>
              <a:t>小时内无操作自动退出）；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</a:t>
            </a:r>
            <a:r>
              <a:rPr lang="zh-CN" altLang="en-US" dirty="0"/>
              <a:t>断网时保留输入数据（如评价未提交提示保留草稿）。</a:t>
            </a:r>
            <a:endParaRPr lang="en-US" altLang="zh-CN" dirty="0"/>
          </a:p>
          <a:p>
            <a:pPr marL="1270" indent="0" eaLnBrk="1" hangingPunct="1">
              <a:buNone/>
            </a:pPr>
            <a:r>
              <a:rPr lang="en-US" altLang="zh-CN" dirty="0"/>
              <a:t>	•</a:t>
            </a:r>
            <a:r>
              <a:rPr lang="zh-CN" altLang="en-US" dirty="0"/>
              <a:t>登录系统采用前端本地</a:t>
            </a:r>
            <a:r>
              <a:rPr lang="en-US" altLang="zh-CN" dirty="0"/>
              <a:t> token + </a:t>
            </a:r>
            <a:r>
              <a:rPr lang="zh-CN" altLang="en-US" dirty="0"/>
              <a:t>后端校验机制；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</a:t>
            </a:r>
            <a:r>
              <a:rPr lang="zh-CN" altLang="en-US" dirty="0"/>
              <a:t>权限控制区分普通用户与管理员（不可越权访问）；</a:t>
            </a:r>
          </a:p>
          <a:p>
            <a:pPr marL="1270" indent="0" eaLnBrk="1" hangingPunct="1">
              <a:buNone/>
            </a:pPr>
            <a:r>
              <a:rPr lang="zh-CN" altLang="en-US" dirty="0"/>
              <a:t>原因：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</a:t>
            </a:r>
            <a:r>
              <a:rPr lang="zh-CN" altLang="en-US" dirty="0"/>
              <a:t>避免因系统崩溃影响学生点餐体验；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</a:t>
            </a:r>
            <a:r>
              <a:rPr lang="zh-CN" altLang="en-US" dirty="0"/>
              <a:t>确保关键数据不易丢失，提升系统稳定感与信任度。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</a:t>
            </a:r>
            <a:r>
              <a:rPr lang="zh-CN" altLang="en-US" dirty="0"/>
              <a:t>保证用户数据隐私，防止恶意攻击。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非功能需求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270" indent="0" eaLnBrk="1" hangingPunct="1">
              <a:buNone/>
            </a:pPr>
            <a:r>
              <a:rPr lang="en-US" altLang="zh-CN"/>
              <a:t>4. </a:t>
            </a:r>
            <a:r>
              <a:rPr lang="zh-CN" altLang="en-US"/>
              <a:t>可维护性与可扩展性（</a:t>
            </a:r>
            <a:r>
              <a:rPr lang="en-US" altLang="zh-CN"/>
              <a:t>Maintainability&amp;Scalability</a:t>
            </a:r>
            <a:r>
              <a:rPr lang="zh-CN" altLang="en-US"/>
              <a:t>）</a:t>
            </a:r>
            <a:endParaRPr lang="en-US" altLang="zh-CN"/>
          </a:p>
          <a:p>
            <a:pPr marL="1270" indent="0" eaLnBrk="1" hangingPunct="1">
              <a:buNone/>
            </a:pPr>
            <a:r>
              <a:rPr lang="zh-CN" altLang="en-US"/>
              <a:t>内容：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系统采用模块化结构（如：菜单模块、评价模块、权限模块）；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所有核心业务逻辑通过接口或服务封装，便于后续维护；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后端结构支持服务拆分（如评价、预约、菜品服务分离）</a:t>
            </a:r>
          </a:p>
          <a:p>
            <a:pPr marL="1270" indent="0" eaLnBrk="1" hangingPunct="1">
              <a:buNone/>
            </a:pPr>
            <a:r>
              <a:rPr lang="zh-CN" altLang="en-US"/>
              <a:t>原因：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后期如需添加新功能（如</a:t>
            </a:r>
            <a:r>
              <a:rPr lang="en-US" altLang="zh-CN"/>
              <a:t>AI</a:t>
            </a:r>
            <a:r>
              <a:rPr lang="zh-CN" altLang="en-US"/>
              <a:t>推荐）或修复</a:t>
            </a:r>
            <a:r>
              <a:rPr lang="en-US" altLang="zh-CN"/>
              <a:t>bug</a:t>
            </a:r>
            <a:r>
              <a:rPr lang="zh-CN" altLang="en-US"/>
              <a:t>，维护成本低；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方便食堂管理人员快速发现并定位问题。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使系统具有长期迭代性和推广潜力；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非功能需求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270" indent="0" eaLnBrk="1" hangingPunct="1">
              <a:buNone/>
            </a:pPr>
            <a:r>
              <a:rPr lang="en-US" altLang="zh-CN" dirty="0"/>
              <a:t>5.</a:t>
            </a:r>
            <a:r>
              <a:rPr lang="zh-CN" altLang="en-US" dirty="0"/>
              <a:t>部署与可恢复性（</a:t>
            </a:r>
            <a:r>
              <a:rPr lang="en-US" altLang="zh-CN" dirty="0" err="1"/>
              <a:t>Deployability</a:t>
            </a:r>
            <a:r>
              <a:rPr lang="en-US" altLang="zh-CN" dirty="0"/>
              <a:t> &amp; Recoverability</a:t>
            </a:r>
            <a:r>
              <a:rPr lang="zh-CN" altLang="en-US" dirty="0"/>
              <a:t>）</a:t>
            </a:r>
            <a:endParaRPr lang="en-US" altLang="zh-CN" dirty="0"/>
          </a:p>
          <a:p>
            <a:pPr marL="1270" indent="0" eaLnBrk="1" hangingPunct="1">
              <a:buNone/>
            </a:pPr>
            <a:r>
              <a:rPr lang="zh-CN" altLang="en-US" dirty="0"/>
              <a:t>内容：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</a:t>
            </a:r>
            <a:r>
              <a:rPr lang="zh-CN" altLang="en-US" dirty="0"/>
              <a:t>系统支持一键打包部署（基于</a:t>
            </a:r>
            <a:r>
              <a:rPr lang="en-US" altLang="zh-CN" dirty="0"/>
              <a:t> Node.js + Vite</a:t>
            </a:r>
            <a:r>
              <a:rPr lang="zh-CN" altLang="en-US" dirty="0"/>
              <a:t>）；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</a:t>
            </a:r>
            <a:r>
              <a:rPr lang="zh-CN" altLang="en-US" dirty="0"/>
              <a:t>系统配置定期备份（如菜单、评价、预约数据）；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</a:t>
            </a:r>
            <a:r>
              <a:rPr lang="zh-CN" altLang="en-US" dirty="0"/>
              <a:t>出现故障可在</a:t>
            </a:r>
            <a:r>
              <a:rPr lang="en-US" altLang="zh-CN" dirty="0"/>
              <a:t>5</a:t>
            </a:r>
            <a:r>
              <a:rPr lang="zh-CN" altLang="en-US" dirty="0"/>
              <a:t>分钟内通过热重启或备份恢复上线。</a:t>
            </a:r>
            <a:endParaRPr lang="en-US" altLang="zh-CN" dirty="0"/>
          </a:p>
          <a:p>
            <a:pPr marL="1270" indent="0" eaLnBrk="1" hangingPunct="1">
              <a:buNone/>
            </a:pPr>
            <a:r>
              <a:rPr lang="zh-CN" altLang="en-US" dirty="0"/>
              <a:t>原因：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</a:t>
            </a:r>
            <a:r>
              <a:rPr lang="zh-CN" altLang="en-US" dirty="0"/>
              <a:t>确保食堂系统运行不中断，减少人工维护成本；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</a:t>
            </a:r>
            <a:r>
              <a:rPr lang="zh-CN" altLang="en-US" dirty="0"/>
              <a:t>在临近就餐高峰时段能快速恢复是关键。</a:t>
            </a:r>
          </a:p>
          <a:p>
            <a:pPr marL="1270" indent="0" eaLnBrk="1" hangingPunct="1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系统开发技术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编程语言</a:t>
            </a:r>
          </a:p>
          <a:p>
            <a:pPr lvl="1" eaLnBrk="1" hangingPunct="1"/>
            <a:r>
              <a:rPr lang="zh-CN" altLang="en-US" dirty="0"/>
              <a:t>前端</a:t>
            </a:r>
            <a:r>
              <a:rPr lang="en-US" altLang="zh-CN" dirty="0"/>
              <a:t>	JavaScript/HTML/CSS	</a:t>
            </a:r>
            <a:r>
              <a:rPr lang="zh-CN" altLang="en-US" dirty="0"/>
              <a:t>基于</a:t>
            </a:r>
            <a:r>
              <a:rPr lang="en-US" altLang="zh-CN" dirty="0"/>
              <a:t>Vue 3</a:t>
            </a:r>
            <a:r>
              <a:rPr lang="zh-CN" altLang="en-US" dirty="0"/>
              <a:t>框架开发</a:t>
            </a:r>
          </a:p>
          <a:p>
            <a:pPr lvl="1" eaLnBrk="1" hangingPunct="1"/>
            <a:r>
              <a:rPr lang="zh-CN" altLang="en-US" dirty="0"/>
              <a:t>后端</a:t>
            </a:r>
            <a:r>
              <a:rPr lang="en-US" altLang="zh-CN" dirty="0"/>
              <a:t>	Java (JDK 17+)		</a:t>
            </a:r>
            <a:r>
              <a:rPr lang="zh-CN" altLang="en-US" dirty="0"/>
              <a:t>使用</a:t>
            </a:r>
            <a:r>
              <a:rPr lang="en-US" altLang="zh-CN" dirty="0"/>
              <a:t>Spring Boot 2.7</a:t>
            </a:r>
            <a:r>
              <a:rPr lang="zh-CN" altLang="en-US" dirty="0"/>
              <a:t>框架</a:t>
            </a:r>
          </a:p>
          <a:p>
            <a:pPr lvl="1" eaLnBrk="1" hangingPunct="1"/>
            <a:r>
              <a:rPr lang="zh-CN" altLang="en-US" dirty="0"/>
              <a:t>数据库</a:t>
            </a:r>
            <a:r>
              <a:rPr lang="en-US" altLang="zh-CN" dirty="0"/>
              <a:t>	PostgreSQL		PostgreSQL</a:t>
            </a:r>
            <a:r>
              <a:rPr lang="zh-CN" altLang="en-US" dirty="0"/>
              <a:t>专属语法优化</a:t>
            </a:r>
          </a:p>
          <a:p>
            <a:pPr eaLnBrk="1" hangingPunct="1"/>
            <a:r>
              <a:rPr lang="zh-CN" altLang="en-US" dirty="0"/>
              <a:t>开发环境</a:t>
            </a:r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extLst>
              <p:ext uri="{D42A27DB-BD31-4B8C-83A1-F6EECF244321}">
                <p14:modId xmlns:p14="http://schemas.microsoft.com/office/powerpoint/2010/main" val="920003133"/>
              </p:ext>
            </p:extLst>
          </p:nvPr>
        </p:nvGraphicFramePr>
        <p:xfrm>
          <a:off x="1152000" y="3573016"/>
          <a:ext cx="6840000" cy="230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9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组件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工具链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前端开发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Node.js v16+ + </a:t>
                      </a:r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VSCode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(Vue-Official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插件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+ Chrome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开发者工具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后端开发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/>
                        <a:t>IntelliJ IDEA + Maven + Postman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数据库开发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/>
                        <a:t>pgAdmin4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协同工具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/>
                        <a:t>Git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系统开发技术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运行环境</a:t>
            </a:r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7454747"/>
              </p:ext>
            </p:extLst>
          </p:nvPr>
        </p:nvGraphicFramePr>
        <p:xfrm>
          <a:off x="1152000" y="1988820"/>
          <a:ext cx="684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/>
                        <a:t>环境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/>
                        <a:t>要求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93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前端运行</a:t>
                      </a:r>
                    </a:p>
                  </a:txBody>
                  <a:tcPr marL="0" marR="127317" marT="127317" marB="12731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现代浏览器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(Chrome/Firefox/Edge/Safari) + Nginx(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生产环境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27317" marR="127317" marT="127317" marB="1273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67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后端运行</a:t>
                      </a:r>
                    </a:p>
                  </a:txBody>
                  <a:tcPr marL="0" marR="127317" marT="127317" marB="12731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JRE 17+ + Tomcat 9+/Undertow + Redis(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会话缓存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27317" marR="127317" marT="127317" marB="1273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67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数据库运行</a:t>
                      </a:r>
                    </a:p>
                  </a:txBody>
                  <a:tcPr marL="0" marR="127317" marT="127317" marB="12731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PostgreSQL 14+</a:t>
                      </a:r>
                    </a:p>
                  </a:txBody>
                  <a:tcPr marL="127317" marR="127317" marT="127317" marB="1273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系统开发技术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395605" y="1484630"/>
            <a:ext cx="3913505" cy="5244465"/>
          </a:xfrm>
        </p:spPr>
        <p:txBody>
          <a:bodyPr/>
          <a:lstStyle/>
          <a:p>
            <a:pPr marL="1270" indent="0" eaLnBrk="1" hangingPunct="1">
              <a:buNone/>
            </a:pPr>
            <a:r>
              <a:rPr lang="zh-CN" altLang="en-US"/>
              <a:t>开发技术：</a:t>
            </a:r>
          </a:p>
          <a:p>
            <a:pPr eaLnBrk="1" hangingPunct="1"/>
            <a:r>
              <a:rPr lang="zh-CN" altLang="en-US"/>
              <a:t>前端核心：</a:t>
            </a:r>
            <a:endParaRPr lang="en-US" altLang="zh-CN"/>
          </a:p>
          <a:p>
            <a:pPr lvl="1" eaLnBrk="1" hangingPunct="1"/>
            <a:r>
              <a:rPr lang="en-US" altLang="zh-CN"/>
              <a:t>Vue 3 Composition API</a:t>
            </a:r>
          </a:p>
          <a:p>
            <a:pPr lvl="1" eaLnBrk="1" hangingPunct="1"/>
            <a:r>
              <a:rPr lang="en-US" altLang="zh-CN"/>
              <a:t>Vite</a:t>
            </a:r>
            <a:r>
              <a:rPr lang="zh-CN" altLang="en-US"/>
              <a:t>构建工具</a:t>
            </a:r>
          </a:p>
          <a:p>
            <a:pPr lvl="1" eaLnBrk="1" hangingPunct="1"/>
            <a:r>
              <a:rPr lang="en-US" altLang="zh-CN"/>
              <a:t>Axios HTTP</a:t>
            </a:r>
            <a:r>
              <a:rPr lang="zh-CN" altLang="en-US"/>
              <a:t>客户端</a:t>
            </a:r>
          </a:p>
          <a:p>
            <a:pPr lvl="1" eaLnBrk="1" hangingPunct="1"/>
            <a:r>
              <a:rPr lang="en-US" altLang="zh-CN"/>
              <a:t>Pinia</a:t>
            </a:r>
            <a:r>
              <a:rPr lang="zh-CN" altLang="en-US"/>
              <a:t>状态管理</a:t>
            </a:r>
          </a:p>
          <a:p>
            <a:pPr lvl="1" eaLnBrk="1" hangingPunct="1"/>
            <a:r>
              <a:rPr lang="en-US" altLang="zh-CN"/>
              <a:t>Vue Router</a:t>
            </a:r>
            <a:r>
              <a:rPr lang="zh-CN" altLang="en-US"/>
              <a:t>路由系统</a:t>
            </a:r>
          </a:p>
          <a:p>
            <a:pPr eaLnBrk="1" hangingPunct="1"/>
            <a:r>
              <a:rPr lang="zh-CN" altLang="en-US"/>
              <a:t>后端核心：</a:t>
            </a:r>
            <a:endParaRPr lang="en-US" altLang="zh-CN"/>
          </a:p>
          <a:p>
            <a:pPr lvl="1" eaLnBrk="1" hangingPunct="1"/>
            <a:r>
              <a:rPr lang="en-US" altLang="zh-CN"/>
              <a:t>Spring Boot Starter</a:t>
            </a:r>
            <a:r>
              <a:rPr lang="zh-CN" altLang="en-US"/>
              <a:t>全家桶</a:t>
            </a:r>
          </a:p>
          <a:p>
            <a:pPr lvl="1" eaLnBrk="1" hangingPunct="1"/>
            <a:r>
              <a:rPr lang="en-US" altLang="zh-CN"/>
              <a:t>Spring Security + JWT</a:t>
            </a:r>
          </a:p>
          <a:p>
            <a:pPr lvl="1" eaLnBrk="1" hangingPunct="1"/>
            <a:r>
              <a:rPr lang="en-US" altLang="zh-CN"/>
              <a:t>MyBatis-Plus/JPA</a:t>
            </a:r>
          </a:p>
          <a:p>
            <a:pPr lvl="1" eaLnBrk="1" hangingPunct="1"/>
            <a:r>
              <a:rPr lang="en-US" altLang="zh-CN"/>
              <a:t>QueryDSL</a:t>
            </a:r>
            <a:r>
              <a:rPr lang="zh-CN" altLang="en-US"/>
              <a:t>动态查询</a:t>
            </a:r>
          </a:p>
          <a:p>
            <a:pPr lvl="1" eaLnBrk="1" hangingPunct="1"/>
            <a:r>
              <a:rPr lang="en-US" altLang="zh-CN"/>
              <a:t>Redis</a:t>
            </a:r>
            <a:r>
              <a:rPr lang="zh-CN" altLang="en-US"/>
              <a:t>缓存</a:t>
            </a:r>
          </a:p>
          <a:p>
            <a:pPr eaLnBrk="1" hangingPunct="1"/>
            <a:endParaRPr lang="zh-CN" altLang="en-US"/>
          </a:p>
          <a:p>
            <a:pPr lvl="1" eaLnBrk="1" hangingPunct="1"/>
            <a:endParaRPr lang="zh-CN" altLang="en-US"/>
          </a:p>
          <a:p>
            <a:pPr lvl="1" eaLnBrk="1" hangingPunct="1"/>
            <a:endParaRPr lang="zh-CN" altLang="en-US"/>
          </a:p>
          <a:p>
            <a:pPr eaLnBrk="1" hangingPunct="1"/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/>
        </p:nvSpPr>
        <p:spPr>
          <a:xfrm>
            <a:off x="4356100" y="1412875"/>
            <a:ext cx="3913505" cy="51130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spcBef>
                <a:spcPct val="35000"/>
              </a:spcBef>
              <a:spcAft>
                <a:spcPct val="15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-227330" algn="l" rtl="0" eaLnBrk="0" fontAlgn="base" hangingPunct="0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" panose="020B0604020202090204" pitchFamily="34" charset="0"/>
              <a:buChar char="–"/>
              <a:defRPr>
                <a:solidFill>
                  <a:srgbClr val="000000"/>
                </a:solidFill>
                <a:latin typeface="+mn-lt"/>
                <a:ea typeface="+mn-ea"/>
              </a:defRPr>
            </a:lvl2pPr>
            <a:lvl3pPr marL="682625" indent="-224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600">
                <a:solidFill>
                  <a:srgbClr val="000000"/>
                </a:solidFill>
                <a:latin typeface="+mn-lt"/>
                <a:ea typeface="+mn-ea"/>
              </a:defRPr>
            </a:lvl3pPr>
            <a:lvl4pPr marL="913130" indent="-2273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+mn-lt"/>
                <a:ea typeface="+mn-ea"/>
              </a:defRPr>
            </a:lvl4pPr>
            <a:lvl5pPr marL="1143000" indent="-2273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9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5pPr>
            <a:lvl6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9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6pPr>
            <a:lvl7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9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7pPr>
            <a:lvl8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9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8pPr>
            <a:lvl9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9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>
                <a:sym typeface="+mn-ea"/>
              </a:rPr>
              <a:t>数据库特色：</a:t>
            </a:r>
            <a:endParaRPr lang="en-US" altLang="zh-CN"/>
          </a:p>
          <a:p>
            <a:pPr lvl="1" eaLnBrk="1" hangingPunct="1"/>
            <a:r>
              <a:rPr lang="en-US" altLang="zh-CN">
                <a:sym typeface="+mn-ea"/>
              </a:rPr>
              <a:t>PostgreSQL</a:t>
            </a:r>
            <a:r>
              <a:rPr lang="zh-CN" altLang="en-US">
                <a:sym typeface="+mn-ea"/>
              </a:rPr>
              <a:t>高级特性：</a:t>
            </a:r>
            <a:endParaRPr lang="zh-CN" altLang="en-US"/>
          </a:p>
          <a:p>
            <a:pPr lvl="1" eaLnBrk="1" hangingPunct="1"/>
            <a:r>
              <a:rPr lang="en-US" altLang="zh-CN">
                <a:sym typeface="+mn-ea"/>
              </a:rPr>
              <a:t>JSONB</a:t>
            </a:r>
            <a:r>
              <a:rPr lang="zh-CN" altLang="en-US">
                <a:sym typeface="+mn-ea"/>
              </a:rPr>
              <a:t>类型存储</a:t>
            </a:r>
            <a:endParaRPr lang="zh-CN" altLang="en-US"/>
          </a:p>
          <a:p>
            <a:pPr lvl="1" eaLnBrk="1" hangingPunct="1"/>
            <a:r>
              <a:rPr lang="zh-CN" altLang="en-US">
                <a:sym typeface="+mn-ea"/>
              </a:rPr>
              <a:t>窗口函数分析</a:t>
            </a:r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团队分工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zh-CN" dirty="0"/>
              <a:t>郄东昕：</a:t>
            </a:r>
          </a:p>
          <a:p>
            <a:pPr lvl="1" eaLnBrk="1" hangingPunct="1"/>
            <a:r>
              <a:rPr lang="zh-CN" altLang="zh-CN" dirty="0">
                <a:sym typeface="+mn-ea"/>
              </a:rPr>
              <a:t>编写</a:t>
            </a:r>
            <a:r>
              <a:rPr lang="zh-CN" altLang="zh-CN" dirty="0"/>
              <a:t>用户故事，整合设计功能，</a:t>
            </a:r>
            <a:r>
              <a:rPr lang="zh-CN" altLang="zh-CN" dirty="0">
                <a:sym typeface="+mn-ea"/>
              </a:rPr>
              <a:t>搭建</a:t>
            </a:r>
            <a:r>
              <a:rPr lang="zh-CN" altLang="zh-CN" dirty="0"/>
              <a:t>前端基础框架</a:t>
            </a:r>
            <a:r>
              <a:rPr lang="zh-CN" altLang="en-US" dirty="0"/>
              <a:t>，搭建</a:t>
            </a:r>
            <a:r>
              <a:rPr lang="en-US" altLang="zh-CN" dirty="0"/>
              <a:t>Git</a:t>
            </a:r>
            <a:r>
              <a:rPr lang="zh-CN" altLang="en-US" dirty="0"/>
              <a:t>平台</a:t>
            </a:r>
            <a:endParaRPr lang="en-US" altLang="zh-CN" dirty="0"/>
          </a:p>
          <a:p>
            <a:pPr eaLnBrk="1" hangingPunct="1"/>
            <a:r>
              <a:rPr lang="zh-CN" altLang="en-US" dirty="0"/>
              <a:t>梅朗潇：</a:t>
            </a:r>
          </a:p>
          <a:p>
            <a:pPr lvl="1" eaLnBrk="1" hangingPunct="1"/>
            <a:r>
              <a:rPr lang="zh-CN" altLang="en-US" dirty="0">
                <a:sym typeface="+mn-ea"/>
              </a:rPr>
              <a:t>制定</a:t>
            </a:r>
            <a:r>
              <a:rPr lang="zh-CN" altLang="en-US" dirty="0"/>
              <a:t>开发计划，</a:t>
            </a:r>
            <a:r>
              <a:rPr lang="zh-CN" altLang="en-US" dirty="0">
                <a:sym typeface="+mn-ea"/>
              </a:rPr>
              <a:t>设计</a:t>
            </a:r>
            <a:r>
              <a:rPr lang="zh-CN" altLang="en-US" dirty="0"/>
              <a:t>程序原型，搭建前端框架，负责大模型</a:t>
            </a:r>
            <a:r>
              <a:rPr lang="en-US" altLang="zh-CN" dirty="0"/>
              <a:t>API</a:t>
            </a:r>
            <a:r>
              <a:rPr lang="zh-CN" altLang="en-US" dirty="0"/>
              <a:t>接入</a:t>
            </a:r>
          </a:p>
          <a:p>
            <a:pPr eaLnBrk="1" hangingPunct="1"/>
            <a:r>
              <a:rPr lang="zh-CN" altLang="en-US" dirty="0"/>
              <a:t>刘子康：</a:t>
            </a:r>
          </a:p>
          <a:p>
            <a:pPr lvl="1" eaLnBrk="1" hangingPunct="1"/>
            <a:r>
              <a:rPr lang="zh-CN" altLang="en-US" dirty="0"/>
              <a:t>设计并搭建后端框架，设计并搭建数据库框架，代码测试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开发进度计划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11</a:t>
            </a:r>
            <a:r>
              <a:rPr lang="zh-CN" altLang="en-US" dirty="0"/>
              <a:t>周（</a:t>
            </a:r>
            <a:r>
              <a:rPr lang="en-US" altLang="zh-CN" dirty="0"/>
              <a:t>5.7-5.11</a:t>
            </a:r>
            <a:r>
              <a:rPr lang="zh-CN" altLang="en-US" dirty="0"/>
              <a:t>）：</a:t>
            </a:r>
            <a:endParaRPr lang="en-US" altLang="zh-CN" dirty="0"/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90204" pitchFamily="34" charset="0"/>
              <a:buChar char="–"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确定开发所需技术栈，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搭建基本框架；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90204" pitchFamily="34" charset="0"/>
              <a:buChar char="–"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配置项目开发环境，创建 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Git 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仓库；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12</a:t>
            </a:r>
            <a:r>
              <a:rPr lang="zh-CN" altLang="en-US" dirty="0"/>
              <a:t>周（</a:t>
            </a:r>
            <a:r>
              <a:rPr lang="en-US" altLang="zh-CN" dirty="0"/>
              <a:t>5.12-5.18</a:t>
            </a:r>
            <a:r>
              <a:rPr lang="zh-CN" altLang="en-US" dirty="0"/>
              <a:t>）：</a:t>
            </a:r>
            <a:endParaRPr lang="en-US" altLang="zh-CN" dirty="0"/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90204" pitchFamily="34" charset="0"/>
              <a:buChar char="–"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完成用户故事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1-2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、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5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；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90204" pitchFamily="34" charset="0"/>
              <a:buChar char="–"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实现食堂信息浏览及菜品的查看和预览功能；</a:t>
            </a:r>
            <a:endParaRPr lang="en-US" altLang="zh-CN" dirty="0"/>
          </a:p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13</a:t>
            </a:r>
            <a:r>
              <a:rPr lang="zh-CN" altLang="en-US" dirty="0"/>
              <a:t>周（</a:t>
            </a:r>
            <a:r>
              <a:rPr lang="en-US" altLang="zh-CN" dirty="0"/>
              <a:t>5.19-5.25</a:t>
            </a:r>
            <a:r>
              <a:rPr lang="zh-CN" altLang="en-US" dirty="0"/>
              <a:t>）：</a:t>
            </a:r>
            <a:endParaRPr lang="en-US" altLang="zh-CN" dirty="0"/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90204" pitchFamily="34" charset="0"/>
              <a:buChar char="–"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完成用户故事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3-4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、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7-8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；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90204" pitchFamily="34" charset="0"/>
              <a:buChar char="–"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实现菜品评价与反馈，以及包间预约功能；</a:t>
            </a:r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开发进度计划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14</a:t>
            </a:r>
            <a:r>
              <a:rPr lang="zh-CN" altLang="en-US" dirty="0"/>
              <a:t>周（</a:t>
            </a:r>
            <a:r>
              <a:rPr lang="en-US" altLang="zh-CN" dirty="0"/>
              <a:t>5.26-6.1</a:t>
            </a:r>
            <a:r>
              <a:rPr lang="zh-CN" altLang="en-US" dirty="0"/>
              <a:t>）：</a:t>
            </a:r>
            <a:endParaRPr lang="en-US" altLang="zh-CN" dirty="0"/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90204" pitchFamily="34" charset="0"/>
              <a:buChar char="–"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完成用户故事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9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、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13-14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及其他收尾工作；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90204" pitchFamily="34" charset="0"/>
              <a:buChar char="–"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实现饮食建议获取和菜品排行榜功能，第一次迭代任务全部完成；</a:t>
            </a:r>
            <a:endParaRPr lang="en-US" altLang="zh-CN" dirty="0"/>
          </a:p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15</a:t>
            </a:r>
            <a:r>
              <a:rPr lang="zh-CN" altLang="en-US" dirty="0"/>
              <a:t>周（</a:t>
            </a:r>
            <a:r>
              <a:rPr lang="en-US" altLang="zh-CN" dirty="0"/>
              <a:t>6.2-6.8</a:t>
            </a:r>
            <a:r>
              <a:rPr lang="zh-CN" altLang="en-US" dirty="0"/>
              <a:t>）：</a:t>
            </a:r>
            <a:endParaRPr lang="en-US" altLang="zh-CN" dirty="0"/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90204" pitchFamily="34" charset="0"/>
              <a:buChar char="–"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完成用户故事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6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、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10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；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90204" pitchFamily="34" charset="0"/>
              <a:buChar char="–"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实现菜品预定和用户权限边界管理功能；</a:t>
            </a:r>
          </a:p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16</a:t>
            </a:r>
            <a:r>
              <a:rPr lang="zh-CN" altLang="en-US" dirty="0"/>
              <a:t>周（</a:t>
            </a:r>
            <a:r>
              <a:rPr lang="en-US" altLang="zh-CN" dirty="0"/>
              <a:t>6.9-6.15</a:t>
            </a:r>
            <a:r>
              <a:rPr lang="zh-CN" altLang="en-US" dirty="0"/>
              <a:t>）：</a:t>
            </a:r>
            <a:endParaRPr lang="en-US" altLang="zh-CN" dirty="0"/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90204" pitchFamily="34" charset="0"/>
              <a:buChar char="–"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完成用户故事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11-12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；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90204" pitchFamily="34" charset="0"/>
              <a:buChar char="–"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实现菜单智能推荐和查看菜品营养成分功能；</a:t>
            </a:r>
            <a:endParaRPr lang="en-US" altLang="zh-CN" dirty="0"/>
          </a:p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17</a:t>
            </a:r>
            <a:r>
              <a:rPr lang="zh-CN" altLang="en-US" dirty="0"/>
              <a:t>周（</a:t>
            </a:r>
            <a:r>
              <a:rPr lang="en-US" altLang="zh-CN" dirty="0"/>
              <a:t>6.10-6.18</a:t>
            </a:r>
            <a:r>
              <a:rPr lang="zh-CN" altLang="en-US" dirty="0"/>
              <a:t>）：</a:t>
            </a:r>
            <a:endParaRPr lang="en-US" altLang="zh-CN" dirty="0"/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90204" pitchFamily="34" charset="0"/>
              <a:buChar char="–"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完成用户故事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15-16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</a:rPr>
              <a:t>及其他收尾工作；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90204" pitchFamily="34" charset="0"/>
              <a:buChar char="–"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实现菜品统计图表展示和优化食堂调度计划功能；</a:t>
            </a:r>
            <a:endParaRPr lang="en-US" altLang="zh-CN" dirty="0"/>
          </a:p>
          <a:p>
            <a:pPr marL="1270" indent="0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系统的体系结构构思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6950" y="483870"/>
            <a:ext cx="4039870" cy="63220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1990" y="1586865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如图所示，本项目采用标准的</a:t>
            </a:r>
            <a:r>
              <a:rPr lang="en-US" altLang="zh-CN" dirty="0"/>
              <a:t>B/S</a:t>
            </a:r>
            <a:r>
              <a:rPr lang="zh-CN" altLang="en-US" dirty="0"/>
              <a:t>架构。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类设计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边界类（</a:t>
            </a:r>
            <a:r>
              <a:rPr lang="zh-CN" altLang="en-US" dirty="0">
                <a:latin typeface="宋体"/>
              </a:rPr>
              <a:t>学生端</a:t>
            </a:r>
            <a:r>
              <a:rPr lang="zh-CN" altLang="en-US" dirty="0"/>
              <a:t>）：</a:t>
            </a:r>
          </a:p>
          <a:p>
            <a:pPr eaLnBrk="1" hangingPunct="1"/>
            <a:endParaRPr lang="zh-CN" altLang="zh-CN" dirty="0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8390639"/>
              </p:ext>
            </p:extLst>
          </p:nvPr>
        </p:nvGraphicFramePr>
        <p:xfrm>
          <a:off x="648000" y="1933573"/>
          <a:ext cx="7848000" cy="4678218"/>
        </p:xfrm>
        <a:graphic>
          <a:graphicData uri="http://schemas.openxmlformats.org/drawingml/2006/table">
            <a:tbl>
              <a:tblPr/>
              <a:tblGrid>
                <a:gridCol w="20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573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 dirty="0">
                          <a:latin typeface="宋体"/>
                          <a:ea typeface="宋体"/>
                        </a:rPr>
                        <a:t>类名（中文）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 dirty="0">
                          <a:latin typeface="宋体"/>
                          <a:ea typeface="宋体"/>
                        </a:rPr>
                        <a:t>类名（英文）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 dirty="0">
                          <a:latin typeface="宋体"/>
                          <a:ea typeface="宋体"/>
                        </a:rPr>
                        <a:t>类的作用概述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573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登录界面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 err="1">
                          <a:latin typeface="Times New Roman" panose="02020503050405090304"/>
                          <a:ea typeface="Times New Roman" panose="02020503050405090304"/>
                        </a:rPr>
                        <a:t>LoginView</a:t>
                      </a:r>
                      <a:endParaRPr lang="en-US" altLang="zh-CN" sz="16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登录界面，处理用户登录操作。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573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学生端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主页界面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 err="1">
                          <a:latin typeface="Times New Roman" panose="02020503050405090304"/>
                          <a:ea typeface="Times New Roman" panose="02020503050405090304"/>
                        </a:rPr>
                        <a:t>HomeView</a:t>
                      </a:r>
                      <a:endParaRPr lang="en-US" altLang="zh-CN" sz="16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主页界面，展示</a:t>
                      </a: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学生端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所有功能入口。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573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食堂列表界面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 err="1">
                          <a:latin typeface="Times New Roman" panose="02020503050405090304"/>
                          <a:ea typeface="Times New Roman" panose="02020503050405090304"/>
                        </a:rPr>
                        <a:t>CanteenListView</a:t>
                      </a:r>
                      <a:endParaRPr lang="en-US" altLang="zh-CN" sz="16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食堂列表展示页，供用户</a:t>
                      </a: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浏览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1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>
                          <a:latin typeface="宋体"/>
                          <a:ea typeface="宋体"/>
                        </a:rPr>
                        <a:t>食堂详情界面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 err="1">
                          <a:latin typeface="Times New Roman" panose="02020503050405090304"/>
                          <a:ea typeface="宋体"/>
                        </a:rPr>
                        <a:t>CanteenDetailView</a:t>
                      </a:r>
                      <a:endParaRPr lang="en-US" altLang="zh-CN" sz="1600" dirty="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展示各个食堂的详情，如营业时间</a:t>
                      </a: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、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菜品特色等。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573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>
                          <a:latin typeface="宋体"/>
                          <a:ea typeface="宋体"/>
                        </a:rPr>
                        <a:t>每日菜单界面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Times New Roman" panose="02020503050405090304"/>
                          <a:ea typeface="Times New Roman" panose="02020503050405090304"/>
                        </a:rPr>
                        <a:t>DailyMenuView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zh-CN" sz="1600" dirty="0">
                          <a:latin typeface="宋体"/>
                          <a:ea typeface="+mn-ea"/>
                        </a:rPr>
                        <a:t>每日菜单浏览页面，展示菜单详情</a:t>
                      </a:r>
                      <a:r>
                        <a:rPr lang="zh-CN" altLang="en-US" sz="1600" dirty="0">
                          <a:latin typeface="宋体"/>
                          <a:ea typeface="+mn-ea"/>
                        </a:rPr>
                        <a:t>，可在此</a:t>
                      </a:r>
                      <a:r>
                        <a:rPr lang="zh-CN" altLang="zh-CN" sz="1600" dirty="0">
                          <a:latin typeface="宋体"/>
                          <a:ea typeface="+mn-ea"/>
                        </a:rPr>
                        <a:t>页面</a:t>
                      </a:r>
                      <a:r>
                        <a:rPr lang="zh-CN" altLang="en-US" sz="1600" dirty="0">
                          <a:latin typeface="宋体"/>
                          <a:ea typeface="+mn-ea"/>
                        </a:rPr>
                        <a:t>预定菜品</a:t>
                      </a:r>
                      <a:r>
                        <a:rPr lang="zh-CN" altLang="zh-CN" sz="1600" dirty="0">
                          <a:latin typeface="宋体"/>
                          <a:ea typeface="+mn-ea"/>
                        </a:rPr>
                        <a:t>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71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>
                          <a:latin typeface="宋体"/>
                          <a:ea typeface="宋体"/>
                        </a:rPr>
                        <a:t>菜品详情与评论界面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Times New Roman" panose="02020503050405090304"/>
                          <a:ea typeface="宋体"/>
                        </a:rPr>
                        <a:t>Dish</a:t>
                      </a:r>
                      <a:r>
                        <a:rPr lang="en-US" altLang="zh-CN" sz="1600">
                          <a:latin typeface="Times New Roman" panose="02020503050405090304"/>
                          <a:ea typeface="Times New Roman" panose="02020503050405090304"/>
                        </a:rPr>
                        <a:t>C</a:t>
                      </a:r>
                      <a:r>
                        <a:rPr lang="en-US" altLang="zh-CN" sz="1600">
                          <a:latin typeface="Times New Roman" panose="02020503050405090304"/>
                          <a:ea typeface="宋体"/>
                        </a:rPr>
                        <a:t>ommentView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菜品详情页面，展示图片、成分、评价等，并可以在此页面对菜品进行评价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573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>
                          <a:latin typeface="宋体"/>
                          <a:ea typeface="宋体"/>
                        </a:rPr>
                        <a:t>包间预约界面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 err="1">
                          <a:latin typeface="Times New Roman" panose="02020503050405090304"/>
                          <a:ea typeface="Times New Roman" panose="02020503050405090304"/>
                        </a:rPr>
                        <a:t>RoomReserveView</a:t>
                      </a:r>
                      <a:endParaRPr lang="en-US" altLang="zh-CN" sz="16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包间预约界面，提供预约输入表单。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573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>
                          <a:latin typeface="宋体"/>
                          <a:ea typeface="宋体"/>
                        </a:rPr>
                        <a:t>排行榜界面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Times New Roman" panose="02020503050405090304"/>
                          <a:ea typeface="宋体"/>
                        </a:rPr>
                        <a:t>DishRankingView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展示</a:t>
                      </a: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所有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菜品</a:t>
                      </a: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及其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评分的排行榜。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71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>
                          <a:latin typeface="宋体"/>
                          <a:ea typeface="宋体"/>
                        </a:rPr>
                        <a:t>营养建议界面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Times New Roman" panose="02020503050405090304"/>
                          <a:ea typeface="Times New Roman" panose="02020503050405090304"/>
                        </a:rPr>
                        <a:t>NutritionAdviceView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营养建议界面，接入大模型，</a:t>
                      </a: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提供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个性化</a:t>
                      </a: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饮食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建议。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573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个人中心界面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Times New Roman" panose="02020503050405090304"/>
                          <a:ea typeface="Times New Roman" panose="02020503050405090304"/>
                        </a:rPr>
                        <a:t>ProfileView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用户</a:t>
                      </a: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个人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信息展示与设置界面</a:t>
                      </a: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，可查看包间和菜品预定记录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1EEEE-1FA7-997B-4C8B-E639BA91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44599B1-AE13-CDE8-D2DB-B40604B218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类设计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C782BD7-DFE1-EE3D-3E97-B99F66FED7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边界类（管理端）：</a:t>
            </a:r>
          </a:p>
          <a:p>
            <a:pPr eaLnBrk="1" hangingPunct="1"/>
            <a:endParaRPr lang="zh-CN" altLang="zh-CN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D44F360-20D8-0061-4ED6-4C2D2BCF66DD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540868"/>
              </p:ext>
            </p:extLst>
          </p:nvPr>
        </p:nvGraphicFramePr>
        <p:xfrm>
          <a:off x="648000" y="1988840"/>
          <a:ext cx="7848000" cy="2518219"/>
        </p:xfrm>
        <a:graphic>
          <a:graphicData uri="http://schemas.openxmlformats.org/drawingml/2006/table">
            <a:tbl>
              <a:tblPr/>
              <a:tblGrid>
                <a:gridCol w="20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573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 dirty="0">
                          <a:latin typeface="宋体"/>
                          <a:ea typeface="宋体"/>
                        </a:rPr>
                        <a:t>类名（中文）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 dirty="0">
                          <a:latin typeface="宋体"/>
                          <a:ea typeface="宋体"/>
                        </a:rPr>
                        <a:t>类名（英文）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 dirty="0">
                          <a:latin typeface="宋体"/>
                          <a:ea typeface="宋体"/>
                        </a:rPr>
                        <a:t>类的作用概述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573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600" dirty="0">
                          <a:latin typeface="宋体"/>
                          <a:ea typeface="+mn-ea"/>
                        </a:rPr>
                        <a:t>管理端</a:t>
                      </a:r>
                      <a:r>
                        <a:rPr lang="zh-CN" altLang="zh-CN" sz="1600" dirty="0">
                          <a:latin typeface="宋体"/>
                          <a:ea typeface="+mn-ea"/>
                        </a:rPr>
                        <a:t>主页界面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 err="1">
                          <a:latin typeface="Times New Roman" panose="02020503050405090304"/>
                          <a:ea typeface="Times New Roman" panose="02020503050405090304"/>
                        </a:rPr>
                        <a:t>AdminView</a:t>
                      </a:r>
                      <a:endParaRPr lang="en-US" altLang="zh-CN" sz="16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zh-CN" sz="1600" dirty="0">
                          <a:latin typeface="宋体"/>
                          <a:ea typeface="+mn-ea"/>
                        </a:rPr>
                        <a:t>主页界面，展示</a:t>
                      </a:r>
                      <a:r>
                        <a:rPr lang="zh-CN" altLang="en-US" sz="1600" dirty="0">
                          <a:latin typeface="宋体"/>
                          <a:ea typeface="+mn-ea"/>
                        </a:rPr>
                        <a:t>管理端</a:t>
                      </a:r>
                      <a:r>
                        <a:rPr lang="zh-CN" altLang="zh-CN" sz="1600" dirty="0">
                          <a:latin typeface="宋体"/>
                          <a:ea typeface="+mn-ea"/>
                        </a:rPr>
                        <a:t>所有功能入口。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宋体"/>
                          <a:ea typeface="+mn-ea"/>
                        </a:rPr>
                        <a:t>菜品总览界面</a:t>
                      </a:r>
                      <a:endParaRPr lang="zh-CN" altLang="zh-CN" sz="1600" dirty="0">
                        <a:latin typeface="宋体"/>
                        <a:ea typeface="+mn-ea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>
                          <a:latin typeface="Times New Roman" panose="02020503050405090304"/>
                          <a:ea typeface="Times New Roman" panose="02020503050405090304"/>
                        </a:rPr>
                        <a:t>DishOverview</a:t>
                      </a:r>
                      <a:endParaRPr lang="en-US" altLang="zh-CN" sz="16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展示所有菜品及其预订人数，可</a:t>
                      </a:r>
                      <a:r>
                        <a:rPr lang="zh-CN" altLang="en-US" sz="1600" dirty="0">
                          <a:latin typeface="宋体"/>
                          <a:ea typeface="+mn-ea"/>
                        </a:rPr>
                        <a:t>在此</a:t>
                      </a:r>
                      <a:r>
                        <a:rPr lang="zh-CN" altLang="zh-CN" sz="1600" dirty="0">
                          <a:latin typeface="宋体"/>
                          <a:ea typeface="+mn-ea"/>
                        </a:rPr>
                        <a:t>页面</a:t>
                      </a:r>
                      <a:r>
                        <a:rPr lang="zh-CN" altLang="en-US" sz="1600" dirty="0">
                          <a:latin typeface="宋体"/>
                          <a:ea typeface="+mn-ea"/>
                        </a:rPr>
                        <a:t>添加供应菜品。</a:t>
                      </a:r>
                      <a:endParaRPr lang="zh-CN" sz="1600" dirty="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573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600" dirty="0">
                          <a:latin typeface="宋体"/>
                          <a:ea typeface="+mn-ea"/>
                        </a:rPr>
                        <a:t>菜品管理界面</a:t>
                      </a:r>
                      <a:endParaRPr lang="zh-CN" sz="1600" dirty="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 err="1">
                          <a:latin typeface="Times New Roman" panose="02020503050405090304"/>
                          <a:ea typeface="Times New Roman" panose="02020503050405090304"/>
                        </a:rPr>
                        <a:t>DishManageView</a:t>
                      </a:r>
                      <a:endParaRPr lang="en-US" altLang="zh-CN" sz="16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zh-CN" sz="1600" dirty="0">
                          <a:latin typeface="宋体"/>
                          <a:ea typeface="+mn-ea"/>
                        </a:rPr>
                        <a:t>菜品详情页面，</a:t>
                      </a:r>
                      <a:r>
                        <a:rPr lang="zh-CN" altLang="en-US" sz="1600" dirty="0">
                          <a:latin typeface="宋体"/>
                          <a:ea typeface="+mn-ea"/>
                        </a:rPr>
                        <a:t>可在此修改菜品</a:t>
                      </a:r>
                      <a:r>
                        <a:rPr lang="zh-CN" altLang="zh-CN" sz="1600" dirty="0">
                          <a:latin typeface="宋体"/>
                          <a:ea typeface="+mn-ea"/>
                        </a:rPr>
                        <a:t>图片</a:t>
                      </a:r>
                      <a:r>
                        <a:rPr lang="zh-CN" altLang="en-US" sz="1600" dirty="0">
                          <a:latin typeface="宋体"/>
                          <a:ea typeface="+mn-ea"/>
                        </a:rPr>
                        <a:t>、名称、描述，删除用户评论。</a:t>
                      </a:r>
                      <a:endParaRPr lang="zh-CN" sz="1600" dirty="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1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菜单管理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界面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 err="1">
                          <a:latin typeface="Times New Roman" panose="02020503050405090304"/>
                          <a:ea typeface="宋体"/>
                        </a:rPr>
                        <a:t>MenuManageView</a:t>
                      </a:r>
                      <a:endParaRPr lang="en-US" altLang="zh-CN" sz="1600" dirty="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zh-CN" sz="1600" dirty="0">
                          <a:latin typeface="宋体"/>
                          <a:ea typeface="+mn-ea"/>
                        </a:rPr>
                        <a:t>每日菜单</a:t>
                      </a:r>
                      <a:r>
                        <a:rPr lang="zh-CN" altLang="en-US" sz="1600" dirty="0">
                          <a:latin typeface="宋体"/>
                          <a:ea typeface="+mn-ea"/>
                        </a:rPr>
                        <a:t>管理</a:t>
                      </a:r>
                      <a:r>
                        <a:rPr lang="zh-CN" altLang="zh-CN" sz="1600" dirty="0">
                          <a:latin typeface="宋体"/>
                          <a:ea typeface="+mn-ea"/>
                        </a:rPr>
                        <a:t>页面</a:t>
                      </a:r>
                      <a:r>
                        <a:rPr lang="zh-CN" altLang="en-US" sz="1600" dirty="0">
                          <a:latin typeface="宋体"/>
                          <a:ea typeface="+mn-ea"/>
                        </a:rPr>
                        <a:t>，</a:t>
                      </a:r>
                      <a:r>
                        <a:rPr lang="zh-CN" altLang="zh-CN" sz="1600" dirty="0">
                          <a:latin typeface="宋体"/>
                          <a:ea typeface="+mn-ea"/>
                        </a:rPr>
                        <a:t>展示菜单详情</a:t>
                      </a:r>
                      <a:r>
                        <a:rPr lang="zh-CN" altLang="en-US" sz="1600" dirty="0">
                          <a:latin typeface="宋体"/>
                          <a:ea typeface="+mn-ea"/>
                        </a:rPr>
                        <a:t>，可在此上</a:t>
                      </a:r>
                      <a:r>
                        <a:rPr lang="en-US" altLang="zh-CN" sz="1600" dirty="0">
                          <a:latin typeface="宋体"/>
                          <a:ea typeface="+mn-ea"/>
                        </a:rPr>
                        <a:t>/</a:t>
                      </a:r>
                      <a:r>
                        <a:rPr lang="zh-CN" altLang="en-US" sz="1600" dirty="0">
                          <a:latin typeface="宋体"/>
                          <a:ea typeface="+mn-ea"/>
                        </a:rPr>
                        <a:t>下架菜品和修改菜品价格</a:t>
                      </a:r>
                      <a:r>
                        <a:rPr lang="zh-CN" altLang="zh-CN" sz="1600" dirty="0">
                          <a:latin typeface="宋体"/>
                          <a:ea typeface="+mn-ea"/>
                        </a:rPr>
                        <a:t>。</a:t>
                      </a:r>
                      <a:endParaRPr lang="zh-CN" sz="1600" dirty="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573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包间预约管理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界面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 err="1">
                          <a:latin typeface="Times New Roman" panose="02020503050405090304"/>
                          <a:ea typeface="Times New Roman" panose="02020503050405090304"/>
                        </a:rPr>
                        <a:t>PrivateRoomView</a:t>
                      </a:r>
                      <a:endParaRPr lang="en-US" altLang="zh-CN" sz="16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展示所有用户的包间预约信息。</a:t>
                      </a:r>
                      <a:endParaRPr lang="zh-CN" sz="1600" dirty="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6500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类设计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zh-CN" dirty="0"/>
              <a:t>控制类：</a:t>
            </a: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68151337"/>
              </p:ext>
            </p:extLst>
          </p:nvPr>
        </p:nvGraphicFramePr>
        <p:xfrm>
          <a:off x="552930" y="2060848"/>
          <a:ext cx="8028000" cy="4355465"/>
        </p:xfrm>
        <a:graphic>
          <a:graphicData uri="http://schemas.openxmlformats.org/drawingml/2006/table">
            <a:tbl>
              <a:tblPr/>
              <a:tblGrid>
                <a:gridCol w="20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 dirty="0">
                          <a:latin typeface="宋体"/>
                          <a:ea typeface="宋体"/>
                        </a:rPr>
                        <a:t>类名（中文）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 dirty="0">
                          <a:latin typeface="宋体"/>
                          <a:ea typeface="宋体"/>
                        </a:rPr>
                        <a:t>类名（英文）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 dirty="0">
                          <a:latin typeface="宋体"/>
                          <a:ea typeface="宋体"/>
                        </a:rPr>
                        <a:t>类的作用概述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用户控制类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 err="1">
                          <a:latin typeface="Times New Roman" panose="02020503050405090304"/>
                          <a:ea typeface="Times New Roman" panose="02020503050405090304"/>
                        </a:rPr>
                        <a:t>UserController</a:t>
                      </a:r>
                      <a:endParaRPr lang="en-US" altLang="zh-CN" sz="16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提供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用户的信息获取与密码修改</a:t>
                      </a: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接口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食堂信息控制类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 err="1">
                          <a:latin typeface="Times New Roman" panose="02020503050405090304"/>
                          <a:ea typeface="Times New Roman" panose="02020503050405090304"/>
                        </a:rPr>
                        <a:t>CanteenController</a:t>
                      </a:r>
                      <a:endParaRPr lang="en-US" altLang="zh-CN" sz="16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提供食堂信息的增删改查接口。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97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菜品控制类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 err="1">
                          <a:latin typeface="Times New Roman" panose="02020503050405090304"/>
                          <a:ea typeface="宋体"/>
                        </a:rPr>
                        <a:t>DishController</a:t>
                      </a:r>
                      <a:endParaRPr lang="en-US" altLang="zh-CN" sz="1600" dirty="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提供菜品的增删改查、评分更新和上</a:t>
                      </a:r>
                      <a:r>
                        <a:rPr lang="en-US" altLang="zh-CN" sz="1600" dirty="0">
                          <a:latin typeface="宋体"/>
                          <a:ea typeface="宋体"/>
                        </a:rPr>
                        <a:t>/</a:t>
                      </a: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下架菜单的接口，以及菜品预订的提交、取消与记录查询接口。</a:t>
                      </a:r>
                      <a:endParaRPr lang="en-US" altLang="zh-CN" sz="1600" dirty="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评价控制类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 err="1">
                          <a:latin typeface="Times New Roman" panose="02020503050405090304"/>
                          <a:ea typeface="宋体"/>
                        </a:rPr>
                        <a:t>Comment</a:t>
                      </a:r>
                      <a:r>
                        <a:rPr lang="en-US" altLang="zh-CN" sz="1600" dirty="0" err="1">
                          <a:latin typeface="Times New Roman" panose="02020503050405090304"/>
                          <a:ea typeface="Times New Roman" panose="02020503050405090304"/>
                        </a:rPr>
                        <a:t>Controller</a:t>
                      </a:r>
                      <a:endParaRPr lang="en-US" altLang="zh-CN" sz="16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提供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菜品评论的</a:t>
                      </a:r>
                      <a:r>
                        <a:rPr lang="zh-CN" altLang="zh-CN" sz="1600" dirty="0">
                          <a:latin typeface="宋体"/>
                          <a:ea typeface="+mn-ea"/>
                        </a:rPr>
                        <a:t>查询</a:t>
                      </a:r>
                      <a:r>
                        <a:rPr lang="zh-CN" altLang="en-US" sz="1600" dirty="0">
                          <a:latin typeface="宋体"/>
                          <a:ea typeface="+mn-ea"/>
                        </a:rPr>
                        <a:t>、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提交</a:t>
                      </a: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与删除接口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包间预约控制类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Times New Roman" panose="02020503050405090304"/>
                          <a:ea typeface="宋体"/>
                        </a:rPr>
                        <a:t>PrivateRoom</a:t>
                      </a:r>
                      <a:r>
                        <a:rPr lang="en-US" altLang="zh-CN" sz="1600">
                          <a:latin typeface="Times New Roman" panose="02020503050405090304"/>
                          <a:ea typeface="Times New Roman" panose="02020503050405090304"/>
                        </a:rPr>
                        <a:t>Controller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提供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包间预约请求</a:t>
                      </a: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的提交与查询接口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营养建议控制类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 err="1">
                          <a:latin typeface="Times New Roman" panose="02020503050405090304"/>
                          <a:ea typeface="宋体"/>
                        </a:rPr>
                        <a:t>Chat</a:t>
                      </a:r>
                      <a:r>
                        <a:rPr lang="en-US" altLang="zh-CN" sz="1600" dirty="0" err="1">
                          <a:latin typeface="Times New Roman" panose="02020503050405090304"/>
                          <a:ea typeface="Times New Roman" panose="02020503050405090304"/>
                        </a:rPr>
                        <a:t>Controller</a:t>
                      </a:r>
                      <a:endParaRPr lang="en-US" altLang="zh-CN" sz="16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zh-CN" sz="1600" dirty="0">
                          <a:latin typeface="宋体"/>
                          <a:ea typeface="+mn-ea"/>
                        </a:rPr>
                        <a:t>调用大模型</a:t>
                      </a:r>
                      <a:r>
                        <a:rPr lang="en-US" altLang="zh-CN" sz="1600" dirty="0">
                          <a:latin typeface="宋体"/>
                          <a:ea typeface="+mn-ea"/>
                        </a:rPr>
                        <a:t>,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生成健康饮食建议。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数据总览控制类</a:t>
                      </a:r>
                      <a:endParaRPr lang="zh-CN" sz="1600" dirty="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 err="1">
                          <a:latin typeface="Times New Roman" panose="02020503050405090304"/>
                          <a:ea typeface="Times New Roman" panose="02020503050405090304"/>
                        </a:rPr>
                        <a:t>OverviewController</a:t>
                      </a:r>
                      <a:endParaRPr lang="en-US" altLang="zh-CN" sz="16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提供菜品、菜单和包间数据的查询接口。</a:t>
                      </a:r>
                      <a:endParaRPr lang="zh-CN" sz="1600" dirty="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5184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类设计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84784"/>
            <a:ext cx="8208962" cy="5113337"/>
          </a:xfrm>
        </p:spPr>
        <p:txBody>
          <a:bodyPr/>
          <a:lstStyle/>
          <a:p>
            <a:pPr eaLnBrk="1" hangingPunct="1"/>
            <a:r>
              <a:rPr lang="zh-CN" altLang="zh-CN" dirty="0"/>
              <a:t>实体类：</a:t>
            </a:r>
          </a:p>
        </p:txBody>
      </p:sp>
      <p:graphicFrame>
        <p:nvGraphicFramePr>
          <p:cNvPr id="4" name="表格 3"/>
          <p:cNvGraphicFramePr/>
          <p:nvPr>
            <p:extLst>
              <p:ext uri="{D42A27DB-BD31-4B8C-83A1-F6EECF244321}">
                <p14:modId xmlns:p14="http://schemas.microsoft.com/office/powerpoint/2010/main" val="1342881892"/>
              </p:ext>
            </p:extLst>
          </p:nvPr>
        </p:nvGraphicFramePr>
        <p:xfrm>
          <a:off x="612000" y="1988840"/>
          <a:ext cx="7920000" cy="4464496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927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 dirty="0">
                          <a:latin typeface="宋体"/>
                          <a:ea typeface="宋体"/>
                        </a:rPr>
                        <a:t>类名（中文）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 dirty="0">
                          <a:latin typeface="宋体"/>
                          <a:ea typeface="宋体"/>
                        </a:rPr>
                        <a:t>类名（英文）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 dirty="0">
                          <a:latin typeface="宋体"/>
                          <a:ea typeface="宋体"/>
                        </a:rPr>
                        <a:t>类的作用概述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541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用户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>
                          <a:latin typeface="Times New Roman" panose="02020503050405090304"/>
                          <a:ea typeface="Times New Roman" panose="02020503050405090304"/>
                        </a:rPr>
                        <a:t>User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表示普通用户</a:t>
                      </a:r>
                      <a:r>
                        <a:rPr lang="en-US" altLang="zh-CN" sz="1600" dirty="0">
                          <a:latin typeface="宋体"/>
                          <a:ea typeface="宋体"/>
                        </a:rPr>
                        <a:t>/</a:t>
                      </a: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管理员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，包含用户名、密码、学工号、姓名、联系方式、头像</a:t>
                      </a: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、权限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等属性。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541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/>
                          <a:ea typeface="宋体"/>
                        </a:rPr>
                        <a:t>食堂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>
                          <a:latin typeface="Times New Roman" panose="02020503050405090304"/>
                          <a:ea typeface="Times New Roman" panose="02020503050405090304"/>
                        </a:rPr>
                        <a:t>Canteen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表示一个食堂，包括名称、位置、主营菜色、营业时间、封面图片等信息。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541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菜品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>
                          <a:latin typeface="Times New Roman" panose="02020503050405090304"/>
                          <a:ea typeface="Times New Roman" panose="02020503050405090304"/>
                        </a:rPr>
                        <a:t>Dish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表示一个菜品，包括名称、价格、</a:t>
                      </a: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描述、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类别（早</a:t>
                      </a:r>
                      <a:r>
                        <a:rPr lang="en-US" altLang="zh-CN" sz="1600" dirty="0">
                          <a:latin typeface="Times New Roman" panose="02020503050405090304"/>
                          <a:ea typeface="Times New Roman" panose="02020503050405090304"/>
                        </a:rPr>
                        <a:t>/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午</a:t>
                      </a:r>
                      <a:r>
                        <a:rPr lang="en-US" altLang="zh-CN" sz="1600" dirty="0">
                          <a:latin typeface="Times New Roman" panose="02020503050405090304"/>
                          <a:ea typeface="Times New Roman" panose="02020503050405090304"/>
                        </a:rPr>
                        <a:t>/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晚餐）、所属食堂</a:t>
                      </a: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和楼层、是否供应、评分、预订人数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等信息。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541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菜品预订</a:t>
                      </a:r>
                      <a:endParaRPr lang="zh-CN" sz="1600" dirty="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 err="1">
                          <a:latin typeface="Times New Roman" panose="02020503050405090304"/>
                          <a:ea typeface="Times New Roman" panose="02020503050405090304"/>
                        </a:rPr>
                        <a:t>DishBooking</a:t>
                      </a:r>
                      <a:endParaRPr lang="en-US" altLang="zh-CN" sz="16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zh-CN" sz="1600" dirty="0">
                          <a:latin typeface="宋体"/>
                          <a:ea typeface="+mn-ea"/>
                        </a:rPr>
                        <a:t>表示</a:t>
                      </a:r>
                      <a:r>
                        <a:rPr lang="zh-CN" altLang="en-US" sz="1600" dirty="0">
                          <a:latin typeface="宋体"/>
                          <a:ea typeface="+mn-ea"/>
                        </a:rPr>
                        <a:t>菜品预订记录，包括用户名、日期、菜品</a:t>
                      </a:r>
                      <a:r>
                        <a:rPr lang="en-US" altLang="zh-CN" sz="1600" dirty="0">
                          <a:latin typeface="宋体"/>
                          <a:ea typeface="+mn-ea"/>
                        </a:rPr>
                        <a:t>id</a:t>
                      </a:r>
                      <a:r>
                        <a:rPr lang="zh-CN" altLang="en-US" sz="1600" dirty="0">
                          <a:latin typeface="宋体"/>
                          <a:ea typeface="+mn-ea"/>
                        </a:rPr>
                        <a:t>和食堂</a:t>
                      </a:r>
                      <a:r>
                        <a:rPr lang="en-US" altLang="zh-CN" sz="1600" dirty="0">
                          <a:latin typeface="宋体"/>
                          <a:ea typeface="+mn-ea"/>
                        </a:rPr>
                        <a:t>id</a:t>
                      </a:r>
                      <a:r>
                        <a:rPr lang="zh-CN" altLang="en-US" sz="1600" dirty="0">
                          <a:latin typeface="宋体"/>
                          <a:ea typeface="+mn-ea"/>
                        </a:rPr>
                        <a:t>、菜品类别等信息。</a:t>
                      </a:r>
                      <a:endParaRPr lang="zh-CN" sz="1600" dirty="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463090"/>
                  </a:ext>
                </a:extLst>
              </a:tr>
              <a:tr h="518541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评价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latin typeface="Times New Roman" panose="02020503050405090304"/>
                          <a:ea typeface="Times New Roman" panose="02020503050405090304"/>
                        </a:rPr>
                        <a:t>C</a:t>
                      </a:r>
                      <a:r>
                        <a:rPr lang="en-US" altLang="zh-CN" sz="1600">
                          <a:latin typeface="Times New Roman" panose="02020503050405090304"/>
                          <a:ea typeface="宋体"/>
                        </a:rPr>
                        <a:t>omment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表示学生对菜品的评价，包含评分、内容、时间戳、关联菜品和用户等信息。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446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包间</a:t>
                      </a: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预约</a:t>
                      </a:r>
                      <a:endParaRPr lang="zh-CN" sz="1600" dirty="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kern="1200" dirty="0" err="1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  <a:cs typeface="+mn-cs"/>
                        </a:rPr>
                        <a:t>PrivateRoom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latin typeface="Times New Roman" panose="02020503050405090304"/>
                        <a:ea typeface="宋体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  <a:cs typeface="+mn-cs"/>
                        </a:rPr>
                        <a:t>表示包间预约记录，包含预约人、时间段、场地类型、预约时间、联系电话等信息。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541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营养建议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 err="1">
                          <a:latin typeface="Times New Roman" panose="02020503050405090304"/>
                          <a:ea typeface="宋体"/>
                        </a:rPr>
                        <a:t>ChatRequest</a:t>
                      </a:r>
                      <a:endParaRPr lang="en-US" altLang="zh-CN" sz="1600" dirty="0">
                        <a:latin typeface="Times New Roman" panose="02020503050405090304"/>
                        <a:ea typeface="宋体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600" dirty="0">
                          <a:latin typeface="宋体"/>
                          <a:ea typeface="宋体"/>
                        </a:rPr>
                        <a:t>类型为</a:t>
                      </a:r>
                      <a:r>
                        <a:rPr lang="zh-CN" altLang="en-US" sz="1600" dirty="0">
                          <a:latin typeface="Times New Roman" panose="02020503050405090304"/>
                          <a:ea typeface="Times New Roman" panose="02020503050405090304"/>
                        </a:rPr>
                        <a:t> </a:t>
                      </a:r>
                      <a:r>
                        <a:rPr lang="en-US" altLang="zh-CN" sz="1600" dirty="0">
                          <a:latin typeface="Times New Roman" panose="02020503050405090304"/>
                          <a:ea typeface="Times New Roman" panose="02020503050405090304"/>
                        </a:rPr>
                        <a:t>String</a:t>
                      </a:r>
                      <a:r>
                        <a:rPr lang="zh-CN" sz="1600" dirty="0">
                          <a:latin typeface="宋体"/>
                          <a:ea typeface="宋体"/>
                        </a:rPr>
                        <a:t>，用于接收与大模型聊天请求中的消息内容。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55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dirty="0">
                          <a:latin typeface="宋体"/>
                          <a:ea typeface="+mn-ea"/>
                        </a:rPr>
                        <a:t>总览数据</a:t>
                      </a:r>
                      <a:endParaRPr lang="zh-CN" sz="1600" dirty="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 dirty="0">
                          <a:latin typeface="Times New Roman" panose="02020503050405090304"/>
                          <a:ea typeface="宋体"/>
                        </a:rPr>
                        <a:t>Overview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600" dirty="0">
                          <a:latin typeface="宋体"/>
                          <a:ea typeface="宋体"/>
                        </a:rPr>
                        <a:t>表示一条数据信息，包括数据名称及其数值。</a:t>
                      </a:r>
                      <a:endParaRPr lang="zh-CN" sz="1600" dirty="0">
                        <a:latin typeface="宋体"/>
                        <a:ea typeface="宋体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9331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类设计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340803"/>
            <a:ext cx="8208962" cy="5113337"/>
          </a:xfrm>
        </p:spPr>
        <p:txBody>
          <a:bodyPr/>
          <a:lstStyle/>
          <a:p>
            <a:pPr eaLnBrk="1" hangingPunct="1"/>
            <a:r>
              <a:rPr lang="zh-CN" altLang="zh-CN" dirty="0"/>
              <a:t>分析类图：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B5035F-0564-351F-DE7F-1296E3ADD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485" y="1377396"/>
            <a:ext cx="4487030" cy="539403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类设计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340803"/>
            <a:ext cx="8208962" cy="5113337"/>
          </a:xfrm>
        </p:spPr>
        <p:txBody>
          <a:bodyPr/>
          <a:lstStyle/>
          <a:p>
            <a:pPr eaLnBrk="1" hangingPunct="1"/>
            <a:r>
              <a:rPr lang="zh-CN" altLang="zh-CN" dirty="0"/>
              <a:t>领域类图：</a:t>
            </a:r>
          </a:p>
        </p:txBody>
      </p:sp>
      <p:pic>
        <p:nvPicPr>
          <p:cNvPr id="2" name="图片 -21474826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70" y="1673225"/>
            <a:ext cx="8298815" cy="51130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类设计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340803"/>
            <a:ext cx="8208962" cy="5113337"/>
          </a:xfrm>
        </p:spPr>
        <p:txBody>
          <a:bodyPr/>
          <a:lstStyle/>
          <a:p>
            <a:pPr eaLnBrk="1" hangingPunct="1"/>
            <a:r>
              <a:rPr lang="zh-CN" altLang="zh-CN" dirty="0"/>
              <a:t>时序图：</a:t>
            </a:r>
          </a:p>
          <a:p>
            <a:pPr eaLnBrk="1" hangingPunct="1"/>
            <a:r>
              <a:rPr lang="zh-CN" altLang="zh-CN" dirty="0"/>
              <a:t>查看每日菜单</a:t>
            </a:r>
          </a:p>
        </p:txBody>
      </p:sp>
      <p:pic>
        <p:nvPicPr>
          <p:cNvPr id="2" name="图片 -2147482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087" y="1370821"/>
            <a:ext cx="6125210" cy="54235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类设计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340803"/>
            <a:ext cx="8208962" cy="5113337"/>
          </a:xfrm>
        </p:spPr>
        <p:txBody>
          <a:bodyPr/>
          <a:lstStyle/>
          <a:p>
            <a:pPr eaLnBrk="1" hangingPunct="1"/>
            <a:r>
              <a:rPr lang="zh-CN" altLang="zh-CN" dirty="0"/>
              <a:t>时序图：</a:t>
            </a:r>
          </a:p>
          <a:p>
            <a:pPr eaLnBrk="1" hangingPunct="1"/>
            <a:r>
              <a:rPr lang="zh-CN" altLang="zh-CN" dirty="0"/>
              <a:t>评价菜品</a:t>
            </a:r>
          </a:p>
        </p:txBody>
      </p:sp>
      <p:pic>
        <p:nvPicPr>
          <p:cNvPr id="3" name="图片 -21474826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475" y="1468121"/>
            <a:ext cx="6726237" cy="5173616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类设计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340803"/>
            <a:ext cx="8208962" cy="5113337"/>
          </a:xfrm>
        </p:spPr>
        <p:txBody>
          <a:bodyPr/>
          <a:lstStyle/>
          <a:p>
            <a:pPr eaLnBrk="1" hangingPunct="1"/>
            <a:r>
              <a:rPr lang="zh-CN" altLang="zh-CN" dirty="0"/>
              <a:t>时序图：</a:t>
            </a:r>
            <a:endParaRPr lang="en-US" altLang="zh-CN" dirty="0"/>
          </a:p>
          <a:p>
            <a:pPr eaLnBrk="1" hangingPunct="1"/>
            <a:r>
              <a:rPr lang="zh-CN" altLang="en-US" dirty="0"/>
              <a:t>预约包间</a:t>
            </a:r>
            <a:endParaRPr lang="zh-CN" altLang="zh-CN" dirty="0"/>
          </a:p>
        </p:txBody>
      </p:sp>
      <p:pic>
        <p:nvPicPr>
          <p:cNvPr id="2" name="图片 -21474826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453765"/>
            <a:ext cx="6480982" cy="5113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Project</a:t>
            </a:r>
            <a:r>
              <a:rPr lang="zh-CN" altLang="en-US" dirty="0"/>
              <a:t>第二轮成果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95605" y="1484630"/>
            <a:ext cx="8208645" cy="5122545"/>
          </a:xfrm>
        </p:spPr>
        <p:txBody>
          <a:bodyPr/>
          <a:lstStyle/>
          <a:p>
            <a:pPr eaLnBrk="1" hangingPunct="1"/>
            <a:r>
              <a:rPr lang="zh-CN" altLang="en-US" dirty="0"/>
              <a:t>学生端</a:t>
            </a:r>
            <a:r>
              <a:rPr lang="zh-CN" altLang="zh-CN" dirty="0"/>
              <a:t>主界面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BA8B41F-0A3B-721A-BE47-352137004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135" y="1807407"/>
            <a:ext cx="1984186" cy="432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D40E1D1-CC1F-ADE6-1C81-C61681FB2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05" y="2533902"/>
            <a:ext cx="5620601" cy="3024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Project</a:t>
            </a:r>
            <a:r>
              <a:rPr lang="zh-CN" altLang="en-US" dirty="0"/>
              <a:t>第二轮成果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食堂信息浏览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648" y="1880981"/>
            <a:ext cx="2000842" cy="432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EC21716-78CA-B114-509D-A2028292F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8" y="2528981"/>
            <a:ext cx="5620601" cy="3024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Project</a:t>
            </a:r>
            <a:r>
              <a:rPr lang="zh-CN" altLang="en-US" dirty="0"/>
              <a:t>第二轮成果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食堂详细信息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122" y="1880981"/>
            <a:ext cx="2005895" cy="4320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2A0EE2A-4A87-1A52-3B88-1C0781CC1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2528981"/>
            <a:ext cx="5620601" cy="3024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F72BC-570D-EBDA-B82E-411C8BC41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DDCC569-4426-5D1A-4DE3-E09890C0B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Project</a:t>
            </a:r>
            <a:r>
              <a:rPr lang="zh-CN" altLang="en-US" dirty="0"/>
              <a:t>第二轮成果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AF816A6-FC5E-7504-B73F-E320FC5508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每日菜单：菜品评分和预订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A86BD6-740B-46E1-2811-9D1A4AA87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" y="2528981"/>
            <a:ext cx="5620601" cy="3024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8F103B4-5524-A349-3833-50C07E995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441" y="1880981"/>
            <a:ext cx="1999256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1323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F747A-7230-8A87-98F4-E408C5286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71FA276-EE80-4576-D976-FD8AFE5DA8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Project</a:t>
            </a:r>
            <a:r>
              <a:rPr lang="zh-CN" altLang="en-US" dirty="0"/>
              <a:t>第二轮成果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B0CEAC5B-96AE-79D2-DFD1-7B1B810A34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菜品详情与评价页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4045FD5-F520-3978-38EE-8DF4B189B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146" y="1880981"/>
            <a:ext cx="1993846" cy="432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D8EE16F-4EEA-B2AB-49AB-B68E797DD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2528981"/>
            <a:ext cx="5620601" cy="30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1643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75970-07B9-87B6-CD19-B900E0341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51E1636-A8CA-F34D-5988-504386445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Project</a:t>
            </a:r>
            <a:r>
              <a:rPr lang="zh-CN" altLang="en-US" dirty="0"/>
              <a:t>第二轮成果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736EF03-DA49-056A-6657-41C514C1D4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包间预约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B74D1BA-3836-6CBE-EC5F-3C69A687E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629" y="1880981"/>
            <a:ext cx="1998881" cy="432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91D7161-00BC-678C-D39B-1B103F947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2528981"/>
            <a:ext cx="5620601" cy="30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911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84AA-72D9-1E41-64FB-19BBC0DE3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7DFFA92-D7A9-8542-D4D4-D45A3C9E7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Project</a:t>
            </a:r>
            <a:r>
              <a:rPr lang="zh-CN" altLang="en-US" dirty="0"/>
              <a:t>第二轮成果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05E95A7-7CFB-1ABF-54BC-170B0C3D1C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菜品排行榜（评分降序）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91FC005-DF7A-75AB-BC48-2EBDF8DE1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2528981"/>
            <a:ext cx="5620601" cy="3024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985D85E-3DB4-1E00-DA4B-3A107B361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307" y="1880981"/>
            <a:ext cx="1991525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699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EE92A-519E-7328-388B-E885303F6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A26F484-672F-874F-3511-9D37758364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Project</a:t>
            </a:r>
            <a:r>
              <a:rPr lang="zh-CN" altLang="en-US" dirty="0"/>
              <a:t>第二轮成果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97F1BD1-B8BE-C2CA-252F-F314551683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营养建议</a:t>
            </a:r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1B33746-0DAA-1B51-27A3-356731891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294" y="1880981"/>
            <a:ext cx="2003551" cy="4320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DCCAECF-C51A-D9A0-494C-4E879146E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2528981"/>
            <a:ext cx="5620601" cy="30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767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722E5-57AD-0E9E-FA0C-E65AB8C6C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A8B4FD0-6DB1-5E33-AC52-E14403ACB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Project</a:t>
            </a:r>
            <a:r>
              <a:rPr lang="zh-CN" altLang="en-US" dirty="0"/>
              <a:t>第二轮成果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577E5B5-53B1-FC2D-6105-B6632A1526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个人中心：个人信息、修改密码、查看预定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ABBA32-6B33-9E74-24E7-F8D0095BF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553" y="1880981"/>
            <a:ext cx="1991525" cy="4320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1111E7A-FEE3-D92F-EE66-2F0C9C00E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937" y="1920717"/>
            <a:ext cx="5352953" cy="288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E8A5D33-0216-E93E-63CE-7B384A84E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8" y="3885313"/>
            <a:ext cx="2463158" cy="144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629DE31-40B6-02B6-47FC-5809AEA9A2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7624" y="4760981"/>
            <a:ext cx="2297647" cy="144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C3D9888-629C-A3A7-958C-9912F7437F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2361" y="3885313"/>
            <a:ext cx="2819277" cy="216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43486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6E1F1-B8E0-7950-C1E5-1A75C080B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1773425-100B-E049-2B2A-443A72E4F4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Project</a:t>
            </a:r>
            <a:r>
              <a:rPr lang="zh-CN" altLang="en-US" dirty="0"/>
              <a:t>第二轮成果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60F42AC-8A6E-E932-E1B1-6F6D72BBF4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管理端主页面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7A79F6D-B00C-2ECF-F14F-1283782BE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045" y="1880981"/>
            <a:ext cx="1994232" cy="432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2A96F91-F7B5-5A52-2487-6AF91F89E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71" y="2528981"/>
            <a:ext cx="5620601" cy="30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573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67572-FF07-6802-1E6A-2C7769F66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B628124-ECF5-C7A7-1A10-D7E8A7D47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Project</a:t>
            </a:r>
            <a:r>
              <a:rPr lang="zh-CN" altLang="en-US" dirty="0"/>
              <a:t>第二轮成果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19A7F59-EC40-3E6B-E3A6-BDF5E76E4A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菜品总览及其预订人数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366FEC-6329-D994-C3B0-4880C7009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871" y="1880981"/>
            <a:ext cx="1993846" cy="4320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B0A059-E453-31F0-E130-D3C4E1CEC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32" y="2528981"/>
            <a:ext cx="5620601" cy="30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935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3B3C1-0470-8F98-19CD-3C9290BA5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A9459D9-1FBD-DE2C-B209-7B9FA86885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Project</a:t>
            </a:r>
            <a:r>
              <a:rPr lang="zh-CN" altLang="en-US" dirty="0"/>
              <a:t>第二轮成果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B6377DF8-A0E4-9AAB-57AA-57E0DC815B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菜品管理：编辑菜品信息、删除评论或菜品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EFF4E6-98E3-A25E-7B24-BCA75DFE2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146" y="1880981"/>
            <a:ext cx="1993846" cy="432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1F8D8F2-CC81-9F7C-D154-4D28232F3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2528981"/>
            <a:ext cx="5620601" cy="30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270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136C0-D52C-F073-F8C4-8E6897200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A57CC79-748F-2B77-397F-77F954AFE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Project</a:t>
            </a:r>
            <a:r>
              <a:rPr lang="zh-CN" altLang="en-US" dirty="0"/>
              <a:t>第二轮成果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A15046E-50F4-5622-8943-C173C07189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菜单管理：上</a:t>
            </a:r>
            <a:r>
              <a:rPr lang="en-US" altLang="zh-CN" dirty="0"/>
              <a:t>/</a:t>
            </a:r>
            <a:r>
              <a:rPr lang="zh-CN" altLang="en-US" dirty="0"/>
              <a:t>下架菜品和修改价格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5B1648A-C589-6D8F-EE83-B35D54DE1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71" y="2528981"/>
            <a:ext cx="5620601" cy="3024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220BA76-1F18-7D1F-2544-C80134B3F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045" y="1880981"/>
            <a:ext cx="1994232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6708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191DE-D70A-168A-B790-2ED219B6A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AB053D3-B87E-ABEF-02E9-45171BD92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Project</a:t>
            </a:r>
            <a:r>
              <a:rPr lang="zh-CN" altLang="en-US" dirty="0"/>
              <a:t>第二轮成果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BEFFABC-15F6-807C-C9C4-CDA686C95F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包间预约管理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6B0DA1B-4000-0B52-5CDD-67D710CEF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629" y="1880981"/>
            <a:ext cx="1998881" cy="432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2D72A45-A344-AC14-F7FE-86B190050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2528981"/>
            <a:ext cx="5620601" cy="30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2533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两轮</a:t>
            </a:r>
            <a:r>
              <a:rPr lang="en-US" altLang="zh-CN" dirty="0"/>
              <a:t>Project</a:t>
            </a:r>
            <a:r>
              <a:rPr lang="zh-CN" altLang="en-US" dirty="0"/>
              <a:t>对比</a:t>
            </a:r>
            <a:r>
              <a:rPr lang="en-US" altLang="zh-CN" dirty="0"/>
              <a:t>	</a:t>
            </a: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28600" eaLnBrk="1" hangingPunct="1">
              <a:defRPr/>
            </a:pPr>
            <a:r>
              <a:rPr lang="zh-CN" altLang="en-US" noProof="1"/>
              <a:t>在第二轮迭代过程中，我们重新分析了各种用例情况，利用</a:t>
            </a:r>
            <a:r>
              <a:rPr lang="en-US" altLang="zh-CN" noProof="1"/>
              <a:t>OO</a:t>
            </a:r>
            <a:r>
              <a:rPr lang="zh-CN" altLang="en-US" noProof="1"/>
              <a:t>分析，详细地绘制了几种常用用例的时序图，并按照时序图重新优化了前端界面与控制类的控制逻辑。</a:t>
            </a:r>
          </a:p>
          <a:p>
            <a:pPr indent="-228600" eaLnBrk="1" hangingPunct="1">
              <a:defRPr/>
            </a:pPr>
            <a:r>
              <a:rPr lang="zh-CN" altLang="en-US" noProof="1"/>
              <a:t>此外，我们还进行了用户权限的划分。在项目的第一轮迭代中，系统缺乏必要的用户权限划分机制，所有用户均拥有相同的功能访问权限。在第二次迭代中，我们依照食堂管理员角色，增加了管理员权限，并且实现了权限拦截。拥有管理员账号密码的用户，可以更改菜单，删除学生评价，管理并调整包间预约情况，实现了角色</a:t>
            </a:r>
            <a:r>
              <a:rPr lang="en-US" altLang="zh-CN" noProof="1"/>
              <a:t>-</a:t>
            </a:r>
            <a:r>
              <a:rPr lang="zh-CN" altLang="en-US" noProof="1"/>
              <a:t>权限</a:t>
            </a:r>
            <a:r>
              <a:rPr lang="en-US" altLang="zh-CN" noProof="1"/>
              <a:t>-</a:t>
            </a:r>
            <a:r>
              <a:rPr lang="zh-CN" altLang="en-US" noProof="1"/>
              <a:t>用户的解耦设计。</a:t>
            </a:r>
          </a:p>
          <a:p>
            <a:pPr indent="-228600" eaLnBrk="1" hangingPunct="1">
              <a:defRPr/>
            </a:pPr>
            <a:r>
              <a:rPr lang="zh-CN" altLang="en-US" noProof="1"/>
              <a:t>在第一轮中，我们未完成用户的评分与评价功能，</a:t>
            </a:r>
            <a:r>
              <a:rPr lang="en-US" altLang="zh-CN" noProof="1"/>
              <a:t> </a:t>
            </a:r>
            <a:r>
              <a:rPr lang="zh-CN" altLang="en-US" noProof="1"/>
              <a:t>在第二轮的迭代中，我们将评分功能集成在菜单查看界面，实现了内聚度的提升。</a:t>
            </a:r>
          </a:p>
          <a:p>
            <a:pPr indent="-228600" eaLnBrk="1" hangingPunct="1">
              <a:defRPr/>
            </a:pPr>
            <a:r>
              <a:rPr lang="zh-CN" altLang="en-US" noProof="1"/>
              <a:t>在数据库方面，第一轮迭代仅完成了用户实体类的数据库，其他数据则采用静态数据类。而在第二轮迭代中，我们进一步构建起了菜品，用户评价记录，</a:t>
            </a:r>
            <a:r>
              <a:rPr lang="en-US" altLang="zh-CN" noProof="1"/>
              <a:t> </a:t>
            </a:r>
            <a:r>
              <a:rPr lang="zh-CN" altLang="en-US" noProof="1"/>
              <a:t>包间预定的数据库，并完善了相应接口。</a:t>
            </a:r>
          </a:p>
          <a:p>
            <a:pPr indent="-228600" eaLnBrk="1" hangingPunct="1">
              <a:defRPr/>
            </a:pPr>
            <a:endParaRPr lang="zh-CN" altLang="en-US" noProof="1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Project</a:t>
            </a:r>
            <a:r>
              <a:rPr lang="zh-CN" altLang="en-US" dirty="0"/>
              <a:t>总结</a:t>
            </a:r>
            <a:r>
              <a:rPr lang="en-US" altLang="zh-CN" dirty="0"/>
              <a:t>	</a:t>
            </a: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28600" eaLnBrk="1" hangingPunct="1">
              <a:defRPr/>
            </a:pPr>
            <a:r>
              <a:rPr lang="zh-CN" altLang="en-US">
                <a:sym typeface="+mn-ea"/>
              </a:rPr>
              <a:t>在项目实践过程中，我们也遇到不少挑战。例如权限系统初期设计时，前端不少界面按钮由于用例与实际状况相比存在缺陷，需要进行前端甚至是后端的重新设计。这类问题的解决过程，极大地锻炼了我的系统思维和工程决策能力。</a:t>
            </a:r>
          </a:p>
          <a:p>
            <a:pPr indent="-228600" eaLnBrk="1" hangingPunct="1">
              <a:defRPr/>
            </a:pPr>
            <a:r>
              <a:rPr lang="zh-CN" altLang="en-US" noProof="1"/>
              <a:t>总体而言，这两轮项目实践让我完成了从</a:t>
            </a:r>
            <a:r>
              <a:rPr lang="en-US" altLang="zh-CN" noProof="1"/>
              <a:t>"</a:t>
            </a:r>
            <a:r>
              <a:rPr lang="zh-CN" altLang="en-US" noProof="1"/>
              <a:t>能编码</a:t>
            </a:r>
            <a:r>
              <a:rPr lang="en-US" altLang="zh-CN" noProof="1"/>
              <a:t>"</a:t>
            </a:r>
            <a:r>
              <a:rPr lang="zh-CN" altLang="en-US" noProof="1"/>
              <a:t>到</a:t>
            </a:r>
            <a:r>
              <a:rPr lang="en-US" altLang="zh-CN" noProof="1"/>
              <a:t>"</a:t>
            </a:r>
            <a:r>
              <a:rPr lang="zh-CN" altLang="en-US" noProof="1"/>
              <a:t>会设计</a:t>
            </a:r>
            <a:r>
              <a:rPr lang="en-US" altLang="zh-CN" noProof="1"/>
              <a:t>"</a:t>
            </a:r>
            <a:r>
              <a:rPr lang="zh-CN" altLang="en-US" noProof="1"/>
              <a:t>的关键转变。不仅掌握了</a:t>
            </a:r>
            <a:r>
              <a:rPr lang="en-US" altLang="zh-CN" noProof="1"/>
              <a:t>UML</a:t>
            </a:r>
            <a:r>
              <a:rPr lang="zh-CN" altLang="en-US" noProof="1"/>
              <a:t>建模、设计模式应用等具体技能，更重要的是培养了以可维护性、可扩展性为导向的开发思维。这种转变对我未来的技术成长具有深远影响，也让我对软件工程这门学科有了更深刻的认识。</a:t>
            </a:r>
          </a:p>
          <a:p>
            <a:pPr indent="-228600" eaLnBrk="1" hangingPunct="1">
              <a:defRPr/>
            </a:pPr>
            <a:r>
              <a:rPr lang="zh-CN" altLang="en-US" noProof="1"/>
              <a:t>课程建议：</a:t>
            </a:r>
          </a:p>
          <a:p>
            <a:pPr lvl="1" indent="-228600" eaLnBrk="1" hangingPunct="1">
              <a:defRPr/>
            </a:pPr>
            <a:r>
              <a:rPr lang="zh-CN" altLang="en-US" noProof="1"/>
              <a:t>希望加强设计模式的场景化教学，通过更多对比案例展示不同模式的适用场景和取舍考量。</a:t>
            </a:r>
          </a:p>
          <a:p>
            <a:pPr lvl="1" indent="-228600" eaLnBrk="1" hangingPunct="1">
              <a:defRPr/>
            </a:pPr>
            <a:r>
              <a:rPr lang="zh-CN" altLang="en-US" noProof="1"/>
              <a:t>建议引入架构决策记录等工业界实践，帮助我们建立更系统的设计思维。</a:t>
            </a:r>
          </a:p>
          <a:p>
            <a:pPr lvl="1" indent="-228600" eaLnBrk="1" hangingPunct="1">
              <a:defRPr/>
            </a:pPr>
            <a:endParaRPr lang="zh-CN" altLang="en-US" noProof="1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结束</a:t>
            </a:r>
          </a:p>
        </p:txBody>
      </p:sp>
      <p:sp>
        <p:nvSpPr>
          <p:cNvPr id="2048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fld id="{E48960D5-84C6-4B70-92D8-351CAEB210D2}" type="datetime2">
              <a:rPr lang="zh-CN" altLang="en-US" noProof="1" smtClean="0"/>
              <a:t>2025年6月20日</a:t>
            </a:fld>
            <a:endParaRPr lang="zh-CN" altLang="en-US" noProof="1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19*116"/>
  <p:tag name="TABLE_ENDDRAG_RECT" val="50*237*619*116"/>
  <p:tag name="TABLE_AUTOADJUST_FLAG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80*174"/>
  <p:tag name="TABLE_ENDDRAG_RECT" val="79*156*580*17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18*335"/>
  <p:tag name="TABLE_ENDDRAG_RECT" val="46*210*618*33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18*335"/>
  <p:tag name="TABLE_ENDDRAG_RECT" val="46*210*618*33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24*302"/>
  <p:tag name="TABLE_ENDDRAG_RECT" val="26*168*624*302"/>
</p:tagLst>
</file>

<file path=ppt/theme/theme1.xml><?xml version="1.0" encoding="utf-8"?>
<a:theme xmlns:a="http://schemas.openxmlformats.org/drawingml/2006/main" name="1_CITRUS">
  <a:themeElements>
    <a:clrScheme name="1_CITRUS 2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00CC00"/>
      </a:accent1>
      <a:accent2>
        <a:srgbClr val="FF822D"/>
      </a:accent2>
      <a:accent3>
        <a:srgbClr val="FFFFFF"/>
      </a:accent3>
      <a:accent4>
        <a:srgbClr val="000000"/>
      </a:accent4>
      <a:accent5>
        <a:srgbClr val="AAE2AA"/>
      </a:accent5>
      <a:accent6>
        <a:srgbClr val="E77528"/>
      </a:accent6>
      <a:hlink>
        <a:srgbClr val="FF63B1"/>
      </a:hlink>
      <a:folHlink>
        <a:srgbClr val="B2B2B2"/>
      </a:folHlink>
    </a:clrScheme>
    <a:fontScheme name="1_CITRUS">
      <a:majorFont>
        <a:latin typeface="Calibri"/>
        <a:ea typeface="楷体_GB2312"/>
        <a:cs typeface="宋体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ITRUS 1">
        <a:dk1>
          <a:srgbClr val="FC6600"/>
        </a:dk1>
        <a:lt1>
          <a:srgbClr val="C6FE82"/>
        </a:lt1>
        <a:dk2>
          <a:srgbClr val="FFFFFF"/>
        </a:dk2>
        <a:lt2>
          <a:srgbClr val="000000"/>
        </a:lt2>
        <a:accent1>
          <a:srgbClr val="00CC00"/>
        </a:accent1>
        <a:accent2>
          <a:srgbClr val="FF822D"/>
        </a:accent2>
        <a:accent3>
          <a:srgbClr val="DFFEC1"/>
        </a:accent3>
        <a:accent4>
          <a:srgbClr val="D756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2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00"/>
        </a:accent1>
        <a:accent2>
          <a:srgbClr val="FF822D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3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72CE86"/>
        </a:accent1>
        <a:accent2>
          <a:srgbClr val="F6B070"/>
        </a:accent2>
        <a:accent3>
          <a:srgbClr val="FFFFFF"/>
        </a:accent3>
        <a:accent4>
          <a:srgbClr val="000000"/>
        </a:accent4>
        <a:accent5>
          <a:srgbClr val="BCE3C3"/>
        </a:accent5>
        <a:accent6>
          <a:srgbClr val="DF9F65"/>
        </a:accent6>
        <a:hlink>
          <a:srgbClr val="EB9D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5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58F91"/>
        </a:accent1>
        <a:accent2>
          <a:srgbClr val="CE7162"/>
        </a:accent2>
        <a:accent3>
          <a:srgbClr val="FFFFFF"/>
        </a:accent3>
        <a:accent4>
          <a:srgbClr val="000000"/>
        </a:accent4>
        <a:accent5>
          <a:srgbClr val="F9C6C7"/>
        </a:accent5>
        <a:accent6>
          <a:srgbClr val="BA6658"/>
        </a:accent6>
        <a:hlink>
          <a:srgbClr val="F6CA7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6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AB774"/>
        </a:accent1>
        <a:accent2>
          <a:srgbClr val="CBACD4"/>
        </a:accent2>
        <a:accent3>
          <a:srgbClr val="FFFFFF"/>
        </a:accent3>
        <a:accent4>
          <a:srgbClr val="000000"/>
        </a:accent4>
        <a:accent5>
          <a:srgbClr val="FCD8BC"/>
        </a:accent5>
        <a:accent6>
          <a:srgbClr val="B89BC0"/>
        </a:accent6>
        <a:hlink>
          <a:srgbClr val="C2EB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7">
        <a:dk1>
          <a:srgbClr val="3B6147"/>
        </a:dk1>
        <a:lt1>
          <a:srgbClr val="CED5E8"/>
        </a:lt1>
        <a:dk2>
          <a:srgbClr val="FFFFFF"/>
        </a:dk2>
        <a:lt2>
          <a:srgbClr val="777777"/>
        </a:lt2>
        <a:accent1>
          <a:srgbClr val="FEA868"/>
        </a:accent1>
        <a:accent2>
          <a:srgbClr val="9AA8D0"/>
        </a:accent2>
        <a:accent3>
          <a:srgbClr val="E3E7F2"/>
        </a:accent3>
        <a:accent4>
          <a:srgbClr val="31523B"/>
        </a:accent4>
        <a:accent5>
          <a:srgbClr val="FED1B9"/>
        </a:accent5>
        <a:accent6>
          <a:srgbClr val="8B98BC"/>
        </a:accent6>
        <a:hlink>
          <a:srgbClr val="9CE15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8">
        <a:dk1>
          <a:srgbClr val="2C395E"/>
        </a:dk1>
        <a:lt1>
          <a:srgbClr val="8798C7"/>
        </a:lt1>
        <a:dk2>
          <a:srgbClr val="FFFFFF"/>
        </a:dk2>
        <a:lt2>
          <a:srgbClr val="000000"/>
        </a:lt2>
        <a:accent1>
          <a:srgbClr val="FEE168"/>
        </a:accent1>
        <a:accent2>
          <a:srgbClr val="BAE482"/>
        </a:accent2>
        <a:accent3>
          <a:srgbClr val="C3CAE0"/>
        </a:accent3>
        <a:accent4>
          <a:srgbClr val="242F4F"/>
        </a:accent4>
        <a:accent5>
          <a:srgbClr val="FEEEB9"/>
        </a:accent5>
        <a:accent6>
          <a:srgbClr val="A8CF75"/>
        </a:accent6>
        <a:hlink>
          <a:srgbClr val="EFAD6B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ITRUS">
  <a:themeElements>
    <a:clrScheme name="1_CITRUS 2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00CC00"/>
      </a:accent1>
      <a:accent2>
        <a:srgbClr val="FF822D"/>
      </a:accent2>
      <a:accent3>
        <a:srgbClr val="FFFFFF"/>
      </a:accent3>
      <a:accent4>
        <a:srgbClr val="000000"/>
      </a:accent4>
      <a:accent5>
        <a:srgbClr val="AAE2AA"/>
      </a:accent5>
      <a:accent6>
        <a:srgbClr val="E77528"/>
      </a:accent6>
      <a:hlink>
        <a:srgbClr val="FF63B1"/>
      </a:hlink>
      <a:folHlink>
        <a:srgbClr val="B2B2B2"/>
      </a:folHlink>
    </a:clrScheme>
    <a:fontScheme name="1_CITRUS">
      <a:majorFont>
        <a:latin typeface="Calibri"/>
        <a:ea typeface="楷体_GB2312"/>
        <a:cs typeface="宋体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ITRUS 1">
        <a:dk1>
          <a:srgbClr val="FC6600"/>
        </a:dk1>
        <a:lt1>
          <a:srgbClr val="C6FE82"/>
        </a:lt1>
        <a:dk2>
          <a:srgbClr val="FFFFFF"/>
        </a:dk2>
        <a:lt2>
          <a:srgbClr val="000000"/>
        </a:lt2>
        <a:accent1>
          <a:srgbClr val="00CC00"/>
        </a:accent1>
        <a:accent2>
          <a:srgbClr val="FF822D"/>
        </a:accent2>
        <a:accent3>
          <a:srgbClr val="DFFEC1"/>
        </a:accent3>
        <a:accent4>
          <a:srgbClr val="D756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2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00"/>
        </a:accent1>
        <a:accent2>
          <a:srgbClr val="FF822D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3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72CE86"/>
        </a:accent1>
        <a:accent2>
          <a:srgbClr val="F6B070"/>
        </a:accent2>
        <a:accent3>
          <a:srgbClr val="FFFFFF"/>
        </a:accent3>
        <a:accent4>
          <a:srgbClr val="000000"/>
        </a:accent4>
        <a:accent5>
          <a:srgbClr val="BCE3C3"/>
        </a:accent5>
        <a:accent6>
          <a:srgbClr val="DF9F65"/>
        </a:accent6>
        <a:hlink>
          <a:srgbClr val="EB9D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5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58F91"/>
        </a:accent1>
        <a:accent2>
          <a:srgbClr val="CE7162"/>
        </a:accent2>
        <a:accent3>
          <a:srgbClr val="FFFFFF"/>
        </a:accent3>
        <a:accent4>
          <a:srgbClr val="000000"/>
        </a:accent4>
        <a:accent5>
          <a:srgbClr val="F9C6C7"/>
        </a:accent5>
        <a:accent6>
          <a:srgbClr val="BA6658"/>
        </a:accent6>
        <a:hlink>
          <a:srgbClr val="F6CA7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6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AB774"/>
        </a:accent1>
        <a:accent2>
          <a:srgbClr val="CBACD4"/>
        </a:accent2>
        <a:accent3>
          <a:srgbClr val="FFFFFF"/>
        </a:accent3>
        <a:accent4>
          <a:srgbClr val="000000"/>
        </a:accent4>
        <a:accent5>
          <a:srgbClr val="FCD8BC"/>
        </a:accent5>
        <a:accent6>
          <a:srgbClr val="B89BC0"/>
        </a:accent6>
        <a:hlink>
          <a:srgbClr val="C2EB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7">
        <a:dk1>
          <a:srgbClr val="3B6147"/>
        </a:dk1>
        <a:lt1>
          <a:srgbClr val="CED5E8"/>
        </a:lt1>
        <a:dk2>
          <a:srgbClr val="FFFFFF"/>
        </a:dk2>
        <a:lt2>
          <a:srgbClr val="777777"/>
        </a:lt2>
        <a:accent1>
          <a:srgbClr val="FEA868"/>
        </a:accent1>
        <a:accent2>
          <a:srgbClr val="9AA8D0"/>
        </a:accent2>
        <a:accent3>
          <a:srgbClr val="E3E7F2"/>
        </a:accent3>
        <a:accent4>
          <a:srgbClr val="31523B"/>
        </a:accent4>
        <a:accent5>
          <a:srgbClr val="FED1B9"/>
        </a:accent5>
        <a:accent6>
          <a:srgbClr val="8B98BC"/>
        </a:accent6>
        <a:hlink>
          <a:srgbClr val="9CE15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8">
        <a:dk1>
          <a:srgbClr val="2C395E"/>
        </a:dk1>
        <a:lt1>
          <a:srgbClr val="8798C7"/>
        </a:lt1>
        <a:dk2>
          <a:srgbClr val="FFFFFF"/>
        </a:dk2>
        <a:lt2>
          <a:srgbClr val="000000"/>
        </a:lt2>
        <a:accent1>
          <a:srgbClr val="FEE168"/>
        </a:accent1>
        <a:accent2>
          <a:srgbClr val="BAE482"/>
        </a:accent2>
        <a:accent3>
          <a:srgbClr val="C3CAE0"/>
        </a:accent3>
        <a:accent4>
          <a:srgbClr val="242F4F"/>
        </a:accent4>
        <a:accent5>
          <a:srgbClr val="FEEEB9"/>
        </a:accent5>
        <a:accent6>
          <a:srgbClr val="A8CF75"/>
        </a:accent6>
        <a:hlink>
          <a:srgbClr val="EFAD6B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1_CITRUS 2">
    <a:dk1>
      <a:srgbClr val="000000"/>
    </a:dk1>
    <a:lt1>
      <a:srgbClr val="FFFFFF"/>
    </a:lt1>
    <a:dk2>
      <a:srgbClr val="000000"/>
    </a:dk2>
    <a:lt2>
      <a:srgbClr val="777777"/>
    </a:lt2>
    <a:accent1>
      <a:srgbClr val="00CC00"/>
    </a:accent1>
    <a:accent2>
      <a:srgbClr val="FF822D"/>
    </a:accent2>
    <a:accent3>
      <a:srgbClr val="FFFFFF"/>
    </a:accent3>
    <a:accent4>
      <a:srgbClr val="000000"/>
    </a:accent4>
    <a:accent5>
      <a:srgbClr val="AAE2AA"/>
    </a:accent5>
    <a:accent6>
      <a:srgbClr val="E77528"/>
    </a:accent6>
    <a:hlink>
      <a:srgbClr val="FF63B1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3124</Words>
  <Application>Microsoft Office PowerPoint</Application>
  <PresentationFormat>全屏显示(4:3)</PresentationFormat>
  <Paragraphs>390</Paragraphs>
  <Slides>45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45</vt:i4>
      </vt:variant>
    </vt:vector>
  </HeadingPairs>
  <TitlesOfParts>
    <vt:vector size="54" baseType="lpstr">
      <vt:lpstr>楷体</vt:lpstr>
      <vt:lpstr>楷体_GB2312</vt:lpstr>
      <vt:lpstr>宋体</vt:lpstr>
      <vt:lpstr>Arial</vt:lpstr>
      <vt:lpstr>Calibri</vt:lpstr>
      <vt:lpstr>Times New Roman</vt:lpstr>
      <vt:lpstr>Wingdings</vt:lpstr>
      <vt:lpstr>1_CITRUS</vt:lpstr>
      <vt:lpstr>2_CITRUS</vt:lpstr>
      <vt:lpstr>哈工大计算学部2025年春季学期 《软件工程》Project 第2轮 检查汇报</vt:lpstr>
      <vt:lpstr>选题与分组</vt:lpstr>
      <vt:lpstr>对题目的理解</vt:lpstr>
      <vt:lpstr>对题目的理解</vt:lpstr>
      <vt:lpstr>功能清单</vt:lpstr>
      <vt:lpstr>功能清单</vt:lpstr>
      <vt:lpstr>功能清单</vt:lpstr>
      <vt:lpstr>非功能需求</vt:lpstr>
      <vt:lpstr>非功能需求</vt:lpstr>
      <vt:lpstr>非功能需求</vt:lpstr>
      <vt:lpstr>非功能需求</vt:lpstr>
      <vt:lpstr>非功能需求</vt:lpstr>
      <vt:lpstr>系统开发技术</vt:lpstr>
      <vt:lpstr>系统开发技术</vt:lpstr>
      <vt:lpstr>系统开发技术</vt:lpstr>
      <vt:lpstr>团队分工</vt:lpstr>
      <vt:lpstr>开发进度计划</vt:lpstr>
      <vt:lpstr>开发进度计划</vt:lpstr>
      <vt:lpstr>系统的体系结构构思</vt:lpstr>
      <vt:lpstr>类设计</vt:lpstr>
      <vt:lpstr>类设计</vt:lpstr>
      <vt:lpstr>类设计</vt:lpstr>
      <vt:lpstr>类设计</vt:lpstr>
      <vt:lpstr>类设计</vt:lpstr>
      <vt:lpstr>类设计</vt:lpstr>
      <vt:lpstr>类设计</vt:lpstr>
      <vt:lpstr>类设计</vt:lpstr>
      <vt:lpstr>类设计</vt:lpstr>
      <vt:lpstr>Project第二轮成果</vt:lpstr>
      <vt:lpstr>Project第二轮成果</vt:lpstr>
      <vt:lpstr>Project第二轮成果</vt:lpstr>
      <vt:lpstr>Project第二轮成果</vt:lpstr>
      <vt:lpstr>Project第二轮成果</vt:lpstr>
      <vt:lpstr>Project第二轮成果</vt:lpstr>
      <vt:lpstr>Project第二轮成果</vt:lpstr>
      <vt:lpstr>Project第二轮成果</vt:lpstr>
      <vt:lpstr>Project第二轮成果</vt:lpstr>
      <vt:lpstr>Project第二轮成果</vt:lpstr>
      <vt:lpstr>Project第二轮成果</vt:lpstr>
      <vt:lpstr>Project第二轮成果</vt:lpstr>
      <vt:lpstr>Project第二轮成果</vt:lpstr>
      <vt:lpstr>Project第二轮成果</vt:lpstr>
      <vt:lpstr>两轮Project对比 </vt:lpstr>
      <vt:lpstr>Project总结 </vt:lpstr>
      <vt:lpstr>结束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哈尔滨工业大学计算机科学与技术学院 07-08春季学期2005级本科必修课程 软件工程 Software Engineering</dc:title>
  <dc:creator>Wang Zhongjie</dc:creator>
  <cp:lastModifiedBy>子康 刘</cp:lastModifiedBy>
  <cp:revision>548</cp:revision>
  <dcterms:created xsi:type="dcterms:W3CDTF">2025-06-19T10:27:29Z</dcterms:created>
  <dcterms:modified xsi:type="dcterms:W3CDTF">2025-06-20T11:10:49Z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B2418288248AE02F81E45B66F0153367_42</vt:lpwstr>
  </property>
  <property fmtid="{D5CDD505-2E9C-101B-9397-08002B2CF9AE}" pid="3" name="KSOProductBuildVer">
    <vt:lpwstr>2052-7.2.2.8955</vt:lpwstr>
  </property>
</Properties>
</file>