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8"/>
  </p:notesMasterIdLst>
  <p:handoutMasterIdLst>
    <p:handoutMasterId r:id="rId39"/>
  </p:handoutMasterIdLst>
  <p:sldIdLst>
    <p:sldId id="297" r:id="rId3"/>
    <p:sldId id="298" r:id="rId4"/>
    <p:sldId id="299" r:id="rId5"/>
    <p:sldId id="314" r:id="rId6"/>
    <p:sldId id="315" r:id="rId7"/>
    <p:sldId id="300" r:id="rId8"/>
    <p:sldId id="316" r:id="rId9"/>
    <p:sldId id="317" r:id="rId10"/>
    <p:sldId id="301" r:id="rId11"/>
    <p:sldId id="318" r:id="rId12"/>
    <p:sldId id="320" r:id="rId13"/>
    <p:sldId id="321" r:id="rId14"/>
    <p:sldId id="322" r:id="rId15"/>
    <p:sldId id="302" r:id="rId16"/>
    <p:sldId id="303" r:id="rId17"/>
    <p:sldId id="323" r:id="rId18"/>
    <p:sldId id="324" r:id="rId19"/>
    <p:sldId id="304" r:id="rId20"/>
    <p:sldId id="329" r:id="rId21"/>
    <p:sldId id="330" r:id="rId22"/>
    <p:sldId id="308" r:id="rId23"/>
    <p:sldId id="325" r:id="rId24"/>
    <p:sldId id="326" r:id="rId25"/>
    <p:sldId id="327" r:id="rId26"/>
    <p:sldId id="328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10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51" autoAdjust="0"/>
    <p:restoredTop sz="94684" autoAdjust="0"/>
  </p:normalViewPr>
  <p:slideViewPr>
    <p:cSldViewPr showGuides="1">
      <p:cViewPr varScale="1">
        <p:scale>
          <a:sx n="104" d="100"/>
          <a:sy n="104" d="100"/>
        </p:scale>
        <p:origin x="1920" y="114"/>
      </p:cViewPr>
      <p:guideLst>
        <p:guide orient="horz" pos="2160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00B01F3-32AD-4BC4-84E8-1E4816CB70A5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8DE9E20-473F-4C80-B5B8-9061F40A851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/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/>
          <p:cNvGrpSpPr/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/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/>
            <p:cNvGrpSpPr/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/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10" name="Oval 10"/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11" name="Oval 11"/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12" name="Oval 12"/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软件工程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4" name="Picture 11" descr="工大标志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anose="02010600030101010101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/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/>
          <p:cNvGrpSpPr/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/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/>
            <p:cNvGrpSpPr/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/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10" name="Oval 10"/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11" name="Oval 11"/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12" name="Oval 12"/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软件工程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4" name="Picture 11" descr="工大标志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anose="02010600030101010101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12"/>
          <p:cNvSpPr>
            <a:spLocks noGrp="1" noChangeArrowheads="1"/>
          </p:cNvSpPr>
          <p:nvPr>
            <p:ph type="body" idx="9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Freeform 13"/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/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9407" name="Oval 15"/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9408" name="Oval 16"/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9409" name="Oval 17"/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3" name="Rectangle 18"/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/>
          <p:cNvSpPr txBox="1">
            <a:spLocks noChangeArrowheads="1"/>
          </p:cNvSpPr>
          <p:nvPr/>
        </p:nvSpPr>
        <p:spPr bwMode="auto">
          <a:xfrm>
            <a:off x="6532563" y="19050"/>
            <a:ext cx="2611437" cy="322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《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软件工程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第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轮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楷体_GB2312" pitchFamily="49" charset="-122"/>
          <a:cs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楷体_GB2312" pitchFamily="49" charset="-122"/>
          <a:cs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楷体_GB2312" pitchFamily="49" charset="-122"/>
          <a:cs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楷体_GB2312" pitchFamily="49" charset="-122"/>
          <a:cs typeface="宋体" panose="02010600030101010101" pitchFamily="2" charset="-122"/>
        </a:defRPr>
      </a:lvl9pPr>
    </p:titleStyle>
    <p:bodyStyle>
      <a:lvl1pPr marL="228600" indent="-227330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330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41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3130" indent="-2273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3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12"/>
          <p:cNvSpPr>
            <a:spLocks noGrp="1" noChangeArrowheads="1"/>
          </p:cNvSpPr>
          <p:nvPr>
            <p:ph type="body" idx="9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2" name="Freeform 13"/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/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9407" name="Oval 15"/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9408" name="Oval 16"/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9409" name="Oval 17"/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3" name="Rectangle 18"/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/>
          <p:cNvSpPr txBox="1">
            <a:spLocks noChangeArrowheads="1"/>
          </p:cNvSpPr>
          <p:nvPr/>
        </p:nvSpPr>
        <p:spPr bwMode="auto">
          <a:xfrm>
            <a:off x="6532563" y="19050"/>
            <a:ext cx="2611437" cy="322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《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软件工程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》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第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轮</a:t>
            </a:r>
            <a:r>
              <a:rPr lang="en-US" altLang="zh-CN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15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楷体_GB2312" pitchFamily="49" charset="-122"/>
          <a:cs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楷体_GB2312" pitchFamily="49" charset="-122"/>
          <a:cs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楷体_GB2312" pitchFamily="49" charset="-122"/>
          <a:cs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anose="020F0502020204030204" pitchFamily="34" charset="0"/>
          <a:ea typeface="楷体_GB2312" pitchFamily="49" charset="-122"/>
          <a:cs typeface="宋体" panose="02010600030101010101" pitchFamily="2" charset="-122"/>
        </a:defRPr>
      </a:lvl9pPr>
    </p:titleStyle>
    <p:bodyStyle>
      <a:lvl1pPr marL="228600" indent="-227330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330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41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3130" indent="-2273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3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617663"/>
            <a:ext cx="7772400" cy="1506537"/>
          </a:xfrm>
        </p:spPr>
        <p:txBody>
          <a:bodyPr/>
          <a:lstStyle/>
          <a:p>
            <a:pPr eaLnBrk="1" hangingPunct="1"/>
            <a:r>
              <a:rPr lang="zh-CN" altLang="zh-CN" sz="2800" dirty="0"/>
              <a:t>哈工大计算学部</a:t>
            </a:r>
            <a:r>
              <a:rPr lang="en-US" altLang="zh-CN" sz="2800" dirty="0"/>
              <a:t>2025</a:t>
            </a:r>
            <a:r>
              <a:rPr lang="zh-CN" altLang="en-US" sz="2800" dirty="0"/>
              <a:t>年春季学期</a:t>
            </a:r>
            <a:br>
              <a:rPr lang="zh-CN" altLang="en-US" sz="2800" dirty="0"/>
            </a:br>
            <a:r>
              <a:rPr lang="en-US" altLang="zh-CN" sz="2800" dirty="0"/>
              <a:t>《</a:t>
            </a:r>
            <a:r>
              <a:rPr lang="zh-CN" altLang="en-US" sz="2800" dirty="0"/>
              <a:t>软件工程</a:t>
            </a:r>
            <a:r>
              <a:rPr lang="en-US" altLang="zh-CN" sz="2800" dirty="0"/>
              <a:t>》Project</a:t>
            </a:r>
            <a:br>
              <a:rPr lang="en-US" altLang="zh-CN" sz="2800" dirty="0"/>
            </a:b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轮</a:t>
            </a:r>
            <a:r>
              <a:rPr lang="en-US" altLang="zh-CN" dirty="0"/>
              <a:t> </a:t>
            </a:r>
            <a:r>
              <a:rPr lang="zh-CN" altLang="en-US" dirty="0"/>
              <a:t>检查汇报</a:t>
            </a:r>
          </a:p>
        </p:txBody>
      </p:sp>
      <p:sp>
        <p:nvSpPr>
          <p:cNvPr id="7171" name="Rectangle 19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1137285"/>
          </a:xfrm>
        </p:spPr>
        <p:txBody>
          <a:bodyPr/>
          <a:lstStyle/>
          <a:p>
            <a:pPr eaLnBrk="1" hangingPunct="1"/>
            <a:r>
              <a:rPr lang="zh-CN" altLang="en-US" noProof="1"/>
              <a:t>小组成员：</a:t>
            </a:r>
            <a:r>
              <a:rPr lang="zh-CN" altLang="zh-CN" noProof="1"/>
              <a:t>梅朗潇</a:t>
            </a:r>
            <a:r>
              <a:rPr lang="zh-CN" altLang="en-US" noProof="1"/>
              <a:t>、</a:t>
            </a:r>
            <a:r>
              <a:rPr lang="zh-CN" altLang="zh-CN" noProof="1"/>
              <a:t>刘子康</a:t>
            </a:r>
            <a:r>
              <a:rPr lang="zh-CN" altLang="en-US" noProof="1"/>
              <a:t>、</a:t>
            </a:r>
            <a:r>
              <a:rPr lang="zh-CN" altLang="zh-CN" noProof="1"/>
              <a:t>郄东昕</a:t>
            </a:r>
          </a:p>
          <a:p>
            <a:pPr eaLnBrk="1" hangingPunct="1"/>
            <a:endParaRPr lang="zh-CN" altLang="zh-CN" noProof="1"/>
          </a:p>
          <a:p>
            <a:pPr eaLnBrk="1" hangingPunct="1"/>
            <a:fld id="{C89F43D9-17A5-4FEF-9BCE-A1EBF701B548}" type="datetime2">
              <a:rPr lang="zh-CN" altLang="en-US" noProof="1" smtClean="0"/>
              <a:t>2025年6月20日</a:t>
            </a:fld>
            <a:endParaRPr lang="zh-CN" altLang="en-US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选题与分组</a:t>
            </a:r>
          </a:p>
        </p:txBody>
      </p:sp>
      <p:graphicFrame>
        <p:nvGraphicFramePr>
          <p:cNvPr id="138295" name="Group 55"/>
          <p:cNvGraphicFramePr>
            <a:graphicFrameLocks noGrp="1"/>
          </p:cNvGraphicFramePr>
          <p:nvPr/>
        </p:nvGraphicFramePr>
        <p:xfrm>
          <a:off x="468313" y="1412875"/>
          <a:ext cx="8135937" cy="4967222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3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题    目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美味食堂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班    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2203601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4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姓名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联系方式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组长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梅朗潇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2022113404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n>
                            <a:noFill/>
                          </a:ln>
                          <a:effectLst/>
                          <a:sym typeface="+mn-ea"/>
                        </a:rPr>
                        <a:t>2022113404@stu.hit.edu.cn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组长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4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刘子康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2022113416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n>
                            <a:noFill/>
                          </a:ln>
                          <a:effectLst/>
                          <a:sym typeface="+mn-ea"/>
                        </a:rPr>
                        <a:t>2022113416@stu.hit.edu.cn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郄东昕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2022112040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>
                          <a:ln>
                            <a:noFill/>
                          </a:ln>
                          <a:effectLst/>
                          <a:sym typeface="+mn-ea"/>
                        </a:rPr>
                        <a:t>2022112040@stu.hit.edu.cn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20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项目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Github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https://github.com/Ryougi04/canteen-system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指导教师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6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2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20204" pitchFamily="34" charset="0"/>
                        <a:defRPr sz="1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徐汉川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对题目的理解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可用图或文字简要介绍所选系统的基本背景、现实意义、用户类型及需求等。</a:t>
            </a:r>
          </a:p>
          <a:p>
            <a:pPr eaLnBrk="1" hangingPunct="1"/>
            <a:r>
              <a:rPr lang="zh-CN" altLang="en-US"/>
              <a:t>背景分析：在高校校园中，食堂是覆盖面最广、使用频率最高的生活服务场景之一。然而，目前许多高校食堂仍存在以下问题，如</a:t>
            </a:r>
            <a:r>
              <a:rPr lang="zh-CN" altLang="en-US" sz="1800"/>
              <a:t>学生难以及时获取每日菜谱和价格、菜品反馈机制不完善，学生意见难以传达、包间、定制服务预约依靠线下流程，效率低下等。</a:t>
            </a:r>
          </a:p>
          <a:p>
            <a:pPr eaLnBrk="1" hangingPunct="1"/>
            <a:r>
              <a:rPr lang="zh-CN" altLang="en-US"/>
              <a:t>现实意义：通过系统化信息发布与数据管理，可以实现食堂管理智能化、学生就餐选择清晰透明、提升用户参与感和满意度、有利于食堂根据数据持续优化运营等。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对题目的理解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用户类型与角色权限</a:t>
            </a:r>
            <a:r>
              <a:rPr lang="en-US" altLang="zh-CN"/>
              <a:t>:</a:t>
            </a:r>
          </a:p>
          <a:p>
            <a:pPr marL="1270" indent="457200" eaLnBrk="1" hangingPunct="1">
              <a:buNone/>
            </a:pPr>
            <a:r>
              <a:rPr lang="zh-CN" altLang="en-US"/>
              <a:t>系统主要面向两类用户</a:t>
            </a:r>
            <a:r>
              <a:rPr lang="en-US" altLang="zh-CN"/>
              <a:t>：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3817875"/>
              </p:ext>
            </p:extLst>
          </p:nvPr>
        </p:nvGraphicFramePr>
        <p:xfrm>
          <a:off x="576000" y="3009900"/>
          <a:ext cx="7992000" cy="1800000"/>
        </p:xfrm>
        <a:graphic>
          <a:graphicData uri="http://schemas.openxmlformats.org/drawingml/2006/table">
            <a:tbl>
              <a:tblPr/>
              <a:tblGrid>
                <a:gridCol w="29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0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用户角色</a:t>
                      </a:r>
                      <a:endParaRPr lang="en-US" altLang="en-US" sz="1600" b="1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权限说明</a:t>
                      </a:r>
                      <a:endParaRPr lang="en-US" altLang="en-US" sz="1600" b="1" spc="12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🎓 </a:t>
                      </a:r>
                      <a:r>
                        <a:rPr lang="en-US" altLang="en-US" sz="1400" spc="12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学生</a:t>
                      </a:r>
                      <a:r>
                        <a:rPr lang="en-US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教职工</a:t>
                      </a:r>
                      <a:r>
                        <a:rPr lang="en-US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en-US" sz="1400" spc="120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普通用户</a:t>
                      </a:r>
                      <a:r>
                        <a:rPr lang="en-US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浏览食堂信息、每日菜单、提交菜品评价、预约包间、查看营养建议。</a:t>
                      </a: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5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👨</a:t>
                      </a:r>
                      <a:r>
                        <a:rPr lang="en-US" altLang="zh-CN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‍</a:t>
                      </a:r>
                      <a:r>
                        <a:rPr lang="zh-CN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🍳 食堂人员（管理用户）</a:t>
                      </a: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发布</a:t>
                      </a:r>
                      <a:r>
                        <a:rPr lang="en-US" altLang="zh-CN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400" spc="12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编辑每日菜单、查看并分析学生反馈、管理包间预约、调整菜品供应、后台权限配置等。</a:t>
                      </a:r>
                    </a:p>
                  </a:txBody>
                  <a:tcPr marL="177800" marR="177800" marT="6350" marB="6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对题目的理解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95605" y="1484630"/>
            <a:ext cx="3642360" cy="5113020"/>
          </a:xfrm>
        </p:spPr>
        <p:txBody>
          <a:bodyPr/>
          <a:lstStyle/>
          <a:p>
            <a:pPr eaLnBrk="1" hangingPunct="1"/>
            <a:r>
              <a:rPr lang="zh-CN" altLang="en-US"/>
              <a:t>三、系统核心功能需求</a:t>
            </a:r>
          </a:p>
          <a:p>
            <a:pPr eaLnBrk="1" hangingPunct="1"/>
            <a:r>
              <a:rPr lang="en-US" altLang="zh-CN" sz="1600"/>
              <a:t>1. </a:t>
            </a:r>
            <a:r>
              <a:rPr lang="zh-CN" altLang="en-US" sz="1600"/>
              <a:t>信息发布功能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浏览各食堂基本信息（位置、图片、主营菜色、营业时间等）；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查看每日菜单，包含菜品名称、图片、价格等；</a:t>
            </a:r>
          </a:p>
          <a:p>
            <a:pPr eaLnBrk="1" hangingPunct="1"/>
            <a:r>
              <a:rPr lang="en-US" altLang="zh-CN" sz="1600"/>
              <a:t>2. </a:t>
            </a:r>
            <a:r>
              <a:rPr lang="zh-CN" altLang="en-US" sz="1600"/>
              <a:t>用户互动功能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学生可对菜品进行点赞、评分、评论；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根据评价反馈自动形成排行榜或推荐列表</a:t>
            </a:r>
            <a:r>
              <a:rPr lang="en-US" altLang="zh-CN" sz="1600"/>
              <a:t>，</a:t>
            </a:r>
            <a:r>
              <a:rPr lang="zh-CN" altLang="en-US" sz="1600"/>
              <a:t>可供食堂参考下架或保留菜品。</a:t>
            </a:r>
          </a:p>
          <a:p>
            <a:pPr eaLnBrk="1" hangingPunct="1"/>
            <a:r>
              <a:rPr lang="en-US" altLang="zh-CN" sz="1600"/>
              <a:t>3. </a:t>
            </a:r>
            <a:r>
              <a:rPr lang="zh-CN" altLang="en-US" sz="1600"/>
              <a:t>预约服务功能</a:t>
            </a:r>
            <a:r>
              <a:rPr lang="en-US" altLang="zh-CN" sz="1600"/>
              <a:t>	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提供包间</a:t>
            </a:r>
            <a:r>
              <a:rPr lang="en-US" altLang="zh-CN" sz="1600"/>
              <a:t>/</a:t>
            </a:r>
            <a:r>
              <a:rPr lang="zh-CN" altLang="en-US" sz="1600"/>
              <a:t>宴会预约；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提交定制要求，预约时间与人数</a:t>
            </a:r>
            <a:r>
              <a:rPr lang="en-US" altLang="zh-CN" sz="1600"/>
              <a:t>；</a:t>
            </a:r>
            <a:r>
              <a:rPr lang="zh-CN" altLang="en-US" sz="1600"/>
              <a:t>食堂后台进行订单管理。</a:t>
            </a:r>
          </a:p>
          <a:p>
            <a:pPr marL="1270" indent="457200" eaLnBrk="1" hangingPunct="1">
              <a:buNone/>
            </a:pPr>
            <a:endParaRPr lang="zh-CN" altLang="en-US" sz="1600"/>
          </a:p>
        </p:txBody>
      </p:sp>
      <p:sp>
        <p:nvSpPr>
          <p:cNvPr id="5" name="Rectangle 3"/>
          <p:cNvSpPr>
            <a:spLocks noGrp="1" noChangeArrowheads="1"/>
          </p:cNvSpPr>
          <p:nvPr/>
        </p:nvSpPr>
        <p:spPr>
          <a:xfrm>
            <a:off x="4643755" y="1484630"/>
            <a:ext cx="3642360" cy="51130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spcBef>
                <a:spcPct val="35000"/>
              </a:spcBef>
              <a:spcAft>
                <a:spcPct val="15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-227330" algn="l" rtl="0" eaLnBrk="0" fontAlgn="base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>
                <a:solidFill>
                  <a:srgbClr val="000000"/>
                </a:solidFill>
                <a:latin typeface="+mn-lt"/>
                <a:ea typeface="+mn-ea"/>
              </a:defRPr>
            </a:lvl2pPr>
            <a:lvl3pPr marL="682625" indent="-224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>
                <a:solidFill>
                  <a:srgbClr val="000000"/>
                </a:solidFill>
                <a:latin typeface="+mn-lt"/>
                <a:ea typeface="+mn-ea"/>
              </a:defRPr>
            </a:lvl3pPr>
            <a:lvl4pPr marL="91313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+mn-lt"/>
                <a:ea typeface="+mn-ea"/>
              </a:defRPr>
            </a:lvl4pPr>
            <a:lvl5pPr marL="114300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5pPr>
            <a:lvl6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6pPr>
            <a:lvl7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7pPr>
            <a:lvl8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8pPr>
            <a:lvl9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1600"/>
              <a:t>4. </a:t>
            </a:r>
            <a:r>
              <a:rPr lang="zh-CN" altLang="en-US" sz="1600"/>
              <a:t>健康饮食功能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根据学生输入的标签或历史偏好提供饮食建议；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展示每道菜的营养成分（如脂肪、蛋白质、过敏源提示）；</a:t>
            </a:r>
            <a:endParaRPr lang="en-US" altLang="zh-CN" sz="1600"/>
          </a:p>
          <a:p>
            <a:pPr eaLnBrk="1" hangingPunct="1"/>
            <a:r>
              <a:rPr lang="en-US" altLang="zh-CN" sz="1600"/>
              <a:t>5. </a:t>
            </a:r>
            <a:r>
              <a:rPr lang="zh-CN" altLang="en-US" sz="1600"/>
              <a:t>权限与安全</a:t>
            </a:r>
            <a:r>
              <a:rPr lang="en-US" altLang="zh-CN" sz="1600"/>
              <a:t>		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登录鉴权（用户名</a:t>
            </a:r>
            <a:r>
              <a:rPr lang="en-US" altLang="zh-CN" sz="1600"/>
              <a:t>/</a:t>
            </a:r>
            <a:r>
              <a:rPr lang="zh-CN" altLang="en-US" sz="1600"/>
              <a:t>密码）；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权限路由控制（学生用户不能发布菜单）；</a:t>
            </a:r>
          </a:p>
          <a:p>
            <a:pPr marL="1270" indent="457200" eaLnBrk="1" hangingPunct="1">
              <a:buNone/>
            </a:pPr>
            <a:r>
              <a:rPr lang="zh-CN" altLang="en-US" sz="1600"/>
              <a:t>后台管理功能需权限认证。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功能清单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 dirty="0"/>
              <a:t>1. </a:t>
            </a:r>
            <a:r>
              <a:rPr lang="zh-CN" altLang="en-US" dirty="0"/>
              <a:t>🏫</a:t>
            </a:r>
            <a:r>
              <a:rPr lang="en-US" altLang="zh-CN" dirty="0"/>
              <a:t> </a:t>
            </a:r>
            <a:r>
              <a:rPr lang="zh-CN" altLang="en-US" dirty="0"/>
              <a:t>食堂信息浏览（编号：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功能描述：展示各食堂的基本信息，包括位置、照片、主营菜品、营业时间等。</a:t>
            </a:r>
          </a:p>
          <a:p>
            <a:pPr marL="1270" indent="0" eaLnBrk="1" hangingPunct="1">
              <a:buNone/>
            </a:pPr>
            <a:r>
              <a:rPr lang="en-US" altLang="zh-CN" dirty="0"/>
              <a:t>2. </a:t>
            </a:r>
            <a:r>
              <a:rPr lang="zh-CN" altLang="en-US" dirty="0"/>
              <a:t>📅</a:t>
            </a:r>
            <a:r>
              <a:rPr lang="en-US" altLang="zh-CN" dirty="0"/>
              <a:t> </a:t>
            </a:r>
            <a:r>
              <a:rPr lang="zh-CN" altLang="en-US" dirty="0"/>
              <a:t>查看每日菜单（编号：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功能描述：每个食堂每日每餐的菜单信息，包括菜品名称、图片、价格</a:t>
            </a:r>
            <a:r>
              <a:rPr lang="en-US" altLang="zh-CN" dirty="0"/>
              <a:t>、</a:t>
            </a:r>
            <a:r>
              <a:rPr lang="zh-CN" altLang="en-US" dirty="0"/>
              <a:t>热量</a:t>
            </a:r>
            <a:r>
              <a:rPr lang="en-US" altLang="zh-CN" dirty="0"/>
              <a:t>、</a:t>
            </a:r>
            <a:r>
              <a:rPr lang="zh-CN" altLang="en-US" dirty="0"/>
              <a:t>营养成分</a:t>
            </a:r>
            <a:r>
              <a:rPr lang="en-US" altLang="zh-CN" dirty="0"/>
              <a:t>、</a:t>
            </a:r>
            <a:r>
              <a:rPr lang="zh-CN" altLang="en-US" dirty="0"/>
              <a:t>过敏原信息等。</a:t>
            </a:r>
            <a:endParaRPr lang="en-US" altLang="zh-CN" dirty="0"/>
          </a:p>
          <a:p>
            <a:pPr marL="1270" indent="0" eaLnBrk="1" hangingPunct="1">
              <a:buNone/>
            </a:pPr>
            <a:r>
              <a:rPr lang="en-US" altLang="zh-CN" dirty="0"/>
              <a:t>3. </a:t>
            </a:r>
            <a:r>
              <a:rPr lang="zh-CN" altLang="en-US" dirty="0"/>
              <a:t>🗳</a:t>
            </a:r>
            <a:r>
              <a:rPr lang="en-US" altLang="zh-CN" dirty="0"/>
              <a:t> </a:t>
            </a:r>
            <a:r>
              <a:rPr lang="zh-CN" altLang="en-US" dirty="0"/>
              <a:t>菜品评价系统（编号：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功能描述：学生可以对菜品进行点赞、评分和评论。</a:t>
            </a:r>
          </a:p>
          <a:p>
            <a:pPr marL="1270" indent="0" eaLnBrk="1" hangingPunct="1">
              <a:buNone/>
            </a:pPr>
            <a:r>
              <a:rPr lang="en-US" altLang="zh-CN" dirty="0"/>
              <a:t>4. </a:t>
            </a:r>
            <a:r>
              <a:rPr lang="zh-CN" altLang="en-US" dirty="0"/>
              <a:t>🔍</a:t>
            </a:r>
            <a:r>
              <a:rPr lang="en-US" altLang="zh-CN" dirty="0"/>
              <a:t> </a:t>
            </a:r>
            <a:r>
              <a:rPr lang="zh-CN" altLang="en-US" dirty="0"/>
              <a:t>学生反馈分析（编号：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功能描述：食堂管理者查看学生评论和统计图，分析菜品受欢迎程度。</a:t>
            </a:r>
          </a:p>
          <a:p>
            <a:pPr algn="l"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功能清单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algn="l" eaLnBrk="1" hangingPunct="1">
              <a:buNone/>
            </a:pPr>
            <a:r>
              <a:rPr lang="en-US" altLang="zh-CN" dirty="0"/>
              <a:t>5. </a:t>
            </a:r>
            <a:r>
              <a:rPr lang="zh-CN" altLang="en-US" dirty="0"/>
              <a:t>🎉</a:t>
            </a:r>
            <a:r>
              <a:rPr lang="en-US" altLang="zh-CN" dirty="0"/>
              <a:t> </a:t>
            </a:r>
            <a:r>
              <a:rPr lang="zh-CN" altLang="en-US" dirty="0"/>
              <a:t>包间与宴会预约（编号：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功能描述：学生可在线预约包间，提交定制要求（如生日宴）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6. </a:t>
            </a:r>
            <a:r>
              <a:rPr lang="zh-CN" altLang="en-US" dirty="0"/>
              <a:t>🛠</a:t>
            </a:r>
            <a:r>
              <a:rPr lang="en-US" altLang="zh-CN" dirty="0"/>
              <a:t> </a:t>
            </a:r>
            <a:r>
              <a:rPr lang="zh-CN" altLang="en-US" dirty="0"/>
              <a:t>包间预约管理（编号：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功能描述：管理人员后台处理预约申请，查看时间冲突与安排表。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7. </a:t>
            </a:r>
            <a:r>
              <a:rPr lang="zh-CN" altLang="en-US" dirty="0"/>
              <a:t>🍽</a:t>
            </a:r>
            <a:r>
              <a:rPr lang="en-US" altLang="zh-CN" dirty="0"/>
              <a:t> </a:t>
            </a:r>
            <a:r>
              <a:rPr lang="zh-CN" altLang="en-US" dirty="0"/>
              <a:t>健康饮食建议（编号：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功能描述：系统提供营养搭配建议，个性化推荐健康菜品。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8. </a:t>
            </a:r>
            <a:r>
              <a:rPr lang="zh-CN" altLang="en-US" dirty="0"/>
              <a:t>🧑</a:t>
            </a:r>
            <a:r>
              <a:rPr lang="en-US" altLang="zh-CN" dirty="0"/>
              <a:t>‍</a:t>
            </a:r>
            <a:r>
              <a:rPr lang="zh-CN" altLang="en-US" dirty="0"/>
              <a:t>💼</a:t>
            </a:r>
            <a:r>
              <a:rPr lang="en-US" altLang="zh-CN" dirty="0"/>
              <a:t> </a:t>
            </a:r>
            <a:r>
              <a:rPr lang="zh-CN" altLang="en-US" dirty="0"/>
              <a:t>用户权限管理（编号：</a:t>
            </a:r>
            <a:r>
              <a:rPr lang="en-US" altLang="zh-CN" dirty="0"/>
              <a:t>8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功能描述：系统根据身份自动分配功能权限（如学生、食堂人员、管理员）。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功能清单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algn="l" eaLnBrk="1" hangingPunct="1">
              <a:buNone/>
            </a:pPr>
            <a:r>
              <a:rPr lang="en-US" altLang="zh-CN" dirty="0"/>
              <a:t>9. </a:t>
            </a:r>
            <a:r>
              <a:rPr lang="zh-CN" altLang="en-US" dirty="0"/>
              <a:t>🤖</a:t>
            </a:r>
            <a:r>
              <a:rPr lang="en-US" altLang="zh-CN" dirty="0"/>
              <a:t> </a:t>
            </a:r>
            <a:r>
              <a:rPr lang="zh-CN" altLang="en-US" dirty="0"/>
              <a:t>智能菜单推荐（编号：</a:t>
            </a:r>
            <a:r>
              <a:rPr lang="en-US" altLang="zh-CN" dirty="0"/>
              <a:t>9</a:t>
            </a:r>
            <a:r>
              <a:rPr lang="zh-CN" altLang="en-US" dirty="0"/>
              <a:t>）</a:t>
            </a:r>
            <a:r>
              <a:rPr lang="en-US" altLang="zh-CN" dirty="0"/>
              <a:t>*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功能描述：基于历史评价记录智能推荐菜品组合。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10. </a:t>
            </a:r>
            <a:r>
              <a:rPr lang="zh-CN" altLang="en-US" dirty="0"/>
              <a:t>💳</a:t>
            </a:r>
            <a:r>
              <a:rPr lang="en-US" altLang="zh-CN" dirty="0"/>
              <a:t> </a:t>
            </a:r>
            <a:r>
              <a:rPr lang="zh-CN" altLang="en-US" dirty="0"/>
              <a:t>余额提醒与充值跳转（编号：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功能描述：当饭卡余额不足时提示并引导跳转充值系统。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11. </a:t>
            </a:r>
            <a:r>
              <a:rPr lang="zh-CN" altLang="en-US" dirty="0"/>
              <a:t>🏆</a:t>
            </a:r>
            <a:r>
              <a:rPr lang="en-US" altLang="zh-CN" dirty="0"/>
              <a:t> </a:t>
            </a:r>
            <a:r>
              <a:rPr lang="zh-CN" altLang="en-US" dirty="0"/>
              <a:t>菜品排行榜展示（编号：</a:t>
            </a:r>
            <a:r>
              <a:rPr lang="en-US" altLang="zh-CN" dirty="0"/>
              <a:t>11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功能描述：展示当天点赞数或评分最高的菜品排行榜。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12. </a:t>
            </a:r>
            <a:r>
              <a:rPr lang="zh-CN" altLang="en-US" dirty="0"/>
              <a:t>📈</a:t>
            </a:r>
            <a:r>
              <a:rPr lang="en-US" altLang="zh-CN" dirty="0"/>
              <a:t> </a:t>
            </a:r>
            <a:r>
              <a:rPr lang="zh-CN" altLang="en-US" dirty="0"/>
              <a:t>菜品统计图表分析（编号：</a:t>
            </a:r>
            <a:r>
              <a:rPr lang="en-US" altLang="zh-CN" dirty="0"/>
              <a:t>12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功能描述：展示每周菜品评价分布等统计图。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13. </a:t>
            </a:r>
            <a:r>
              <a:rPr lang="zh-CN" altLang="en-US" dirty="0"/>
              <a:t>📉</a:t>
            </a:r>
            <a:r>
              <a:rPr lang="en-US" altLang="zh-CN" dirty="0"/>
              <a:t> </a:t>
            </a:r>
            <a:r>
              <a:rPr lang="zh-CN" altLang="en-US" dirty="0"/>
              <a:t>食堂调度与采购优化（编号：</a:t>
            </a:r>
            <a:r>
              <a:rPr lang="en-US" altLang="zh-CN" dirty="0"/>
              <a:t>13</a:t>
            </a:r>
            <a:r>
              <a:rPr lang="zh-CN" altLang="en-US" dirty="0"/>
              <a:t>）</a:t>
            </a:r>
          </a:p>
          <a:p>
            <a:pPr marL="1270" indent="0" algn="l" eaLnBrk="1" hangingPunct="1">
              <a:buNone/>
            </a:pPr>
            <a:r>
              <a:rPr lang="en-US" altLang="zh-CN" dirty="0"/>
              <a:t>	•	</a:t>
            </a:r>
            <a:r>
              <a:rPr lang="zh-CN" altLang="en-US" dirty="0"/>
              <a:t>功能描述：根据就餐数据自动优化人员调度与食材采购计划。</a:t>
            </a:r>
          </a:p>
          <a:p>
            <a:pPr marL="1270" indent="0" algn="l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 dirty="0"/>
              <a:t>1. </a:t>
            </a:r>
            <a:r>
              <a:rPr lang="zh-CN" altLang="en-US" dirty="0"/>
              <a:t>性能需求（</a:t>
            </a:r>
            <a:r>
              <a:rPr lang="en-US" altLang="zh-CN" dirty="0"/>
              <a:t>Performance</a:t>
            </a:r>
            <a:r>
              <a:rPr lang="zh-CN" altLang="en-US" dirty="0"/>
              <a:t>）</a:t>
            </a:r>
          </a:p>
          <a:p>
            <a:pPr marL="1270" indent="0" eaLnBrk="1" hangingPunct="1">
              <a:buNone/>
            </a:pPr>
            <a:r>
              <a:rPr lang="zh-CN" altLang="en-US" dirty="0"/>
              <a:t>内容：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系统首页、菜单查询、评价提交等操作响应时间应</a:t>
            </a:r>
            <a:r>
              <a:rPr lang="en-US" altLang="zh-CN" dirty="0"/>
              <a:t> ≤ 1 </a:t>
            </a:r>
            <a:r>
              <a:rPr lang="zh-CN" altLang="en-US" dirty="0"/>
              <a:t>秒；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并发用户量支持不少于</a:t>
            </a:r>
            <a:r>
              <a:rPr lang="en-US" altLang="zh-CN" dirty="0"/>
              <a:t> 50 </a:t>
            </a:r>
            <a:r>
              <a:rPr lang="zh-CN" altLang="en-US" dirty="0"/>
              <a:t>人在线使用；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菜单页面加载图片总时间</a:t>
            </a:r>
            <a:r>
              <a:rPr lang="en-US" altLang="zh-CN" dirty="0"/>
              <a:t> ≤ 3 </a:t>
            </a:r>
            <a:r>
              <a:rPr lang="zh-CN" altLang="en-US" dirty="0"/>
              <a:t>秒（在正常网络下）；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支持高峰时段（如午饭前）页面不卡顿、数据不丢失。</a:t>
            </a:r>
          </a:p>
          <a:p>
            <a:pPr marL="1270" indent="0" eaLnBrk="1" hangingPunct="1">
              <a:buNone/>
            </a:pPr>
            <a:r>
              <a:rPr lang="zh-CN" altLang="en-US" dirty="0"/>
              <a:t>原因：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学生使用系统多集中在早中晚饭前，需保证响应快、不崩溃；</a:t>
            </a:r>
          </a:p>
          <a:p>
            <a:pPr marL="1270" indent="0" eaLnBrk="1" hangingPunct="1">
              <a:buNone/>
            </a:pPr>
            <a:r>
              <a:rPr lang="en-US" altLang="zh-CN" dirty="0"/>
              <a:t>	•</a:t>
            </a:r>
            <a:r>
              <a:rPr lang="zh-CN" altLang="en-US" dirty="0"/>
              <a:t>提升系统流畅性与可用性，增强用户体验。</a:t>
            </a:r>
          </a:p>
          <a:p>
            <a:pPr marL="1270" indent="0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/>
              <a:t>2. </a:t>
            </a:r>
            <a:r>
              <a:rPr lang="zh-CN" altLang="en-US"/>
              <a:t>可用性（</a:t>
            </a:r>
            <a:r>
              <a:rPr lang="en-US" altLang="zh-CN"/>
              <a:t>Usability</a:t>
            </a:r>
            <a:r>
              <a:rPr lang="zh-CN" altLang="en-US"/>
              <a:t>）</a:t>
            </a:r>
          </a:p>
          <a:p>
            <a:pPr marL="1270" indent="0" eaLnBrk="1" hangingPunct="1">
              <a:buNone/>
            </a:pPr>
            <a:r>
              <a:rPr lang="zh-CN" altLang="en-US"/>
              <a:t>内容：</a:t>
            </a:r>
          </a:p>
          <a:p>
            <a:pPr marL="1270" indent="0" eaLnBrk="1" hangingPunct="1">
              <a:buNone/>
            </a:pPr>
            <a:r>
              <a:rPr lang="en-US" altLang="zh-CN"/>
              <a:t>	•UI</a:t>
            </a:r>
            <a:r>
              <a:rPr lang="zh-CN" altLang="en-US"/>
              <a:t>简洁、结构清晰，适配移动端浏览（</a:t>
            </a:r>
            <a:r>
              <a:rPr lang="en-US" altLang="zh-CN"/>
              <a:t>“</a:t>
            </a:r>
            <a:r>
              <a:rPr lang="zh-CN" altLang="en-US"/>
              <a:t>掌上食堂</a:t>
            </a:r>
            <a:r>
              <a:rPr lang="en-US" altLang="zh-CN"/>
              <a:t>”</a:t>
            </a:r>
            <a:r>
              <a:rPr lang="zh-CN" altLang="en-US"/>
              <a:t>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所有核心操作</a:t>
            </a:r>
            <a:r>
              <a:rPr lang="en-US" altLang="zh-CN"/>
              <a:t> ≤ 3 </a:t>
            </a:r>
            <a:r>
              <a:rPr lang="zh-CN" altLang="en-US"/>
              <a:t>步完成（如查菜单、下预定、评价）；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支持表单校验、错误提示与提示引导；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提供图标、颜色区分各模块，降低使用学习成本。</a:t>
            </a:r>
          </a:p>
          <a:p>
            <a:pPr marL="1270" indent="0" eaLnBrk="1" hangingPunct="1">
              <a:buNone/>
            </a:pPr>
            <a:r>
              <a:rPr lang="zh-CN" altLang="en-US"/>
              <a:t>原因：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用户以学生为主，操作频次高，界面应直观、易上手；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增强访问与使用的便利性，提高接受度与满意度。</a:t>
            </a:r>
          </a:p>
          <a:p>
            <a:pPr marL="1270" indent="0" eaLnBrk="1" hangingPunct="1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/>
              <a:t> 3. </a:t>
            </a:r>
            <a:r>
              <a:rPr lang="zh-CN" altLang="en-US"/>
              <a:t>可靠性与安全性（</a:t>
            </a:r>
            <a:r>
              <a:rPr lang="en-US" altLang="zh-CN"/>
              <a:t>Reliability&amp;safety</a:t>
            </a:r>
            <a:r>
              <a:rPr lang="zh-CN" altLang="en-US"/>
              <a:t>）</a:t>
            </a:r>
          </a:p>
          <a:p>
            <a:pPr marL="1270" indent="0" eaLnBrk="1" hangingPunct="1">
              <a:buNone/>
            </a:pPr>
            <a:r>
              <a:rPr lang="zh-CN" altLang="en-US"/>
              <a:t>内容：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正常使用下</a:t>
            </a:r>
            <a:r>
              <a:rPr lang="en-US" altLang="zh-CN"/>
              <a:t> 99% </a:t>
            </a:r>
            <a:r>
              <a:rPr lang="zh-CN" altLang="en-US"/>
              <a:t>的时间可用（即系统稳定无故障）；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登录状态需保持一段时间（如</a:t>
            </a:r>
            <a:r>
              <a:rPr lang="en-US" altLang="zh-CN"/>
              <a:t>2</a:t>
            </a:r>
            <a:r>
              <a:rPr lang="zh-CN" altLang="en-US"/>
              <a:t>小时内无操作自动退出）；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断网时保留输入数据（如评价未提交提示保留草稿）。</a:t>
            </a:r>
            <a:endParaRPr lang="en-US" altLang="zh-CN"/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登录系统采用前端本地</a:t>
            </a:r>
            <a:r>
              <a:rPr lang="en-US" altLang="zh-CN"/>
              <a:t> token + </a:t>
            </a:r>
            <a:r>
              <a:rPr lang="zh-CN" altLang="en-US"/>
              <a:t>后端校验机制；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权限控制区分普通用户与管理员（不可越权访问）；</a:t>
            </a:r>
          </a:p>
          <a:p>
            <a:pPr marL="1270" indent="0" eaLnBrk="1" hangingPunct="1">
              <a:buNone/>
            </a:pPr>
            <a:r>
              <a:rPr lang="zh-CN" altLang="en-US"/>
              <a:t>原因：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避免因系统崩溃影响学生点餐体验；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确保关键数据不易丢失，提升系统稳定感与信任度。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保证用户数据隐私，防止恶意攻击。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/>
              <a:t>4. </a:t>
            </a:r>
            <a:r>
              <a:rPr lang="zh-CN" altLang="en-US"/>
              <a:t>可维护性与可扩展性（</a:t>
            </a:r>
            <a:r>
              <a:rPr lang="en-US" altLang="zh-CN"/>
              <a:t>Maintainability&amp;Scalability</a:t>
            </a:r>
            <a:r>
              <a:rPr lang="zh-CN" altLang="en-US"/>
              <a:t>）</a:t>
            </a:r>
            <a:endParaRPr lang="en-US" altLang="zh-CN"/>
          </a:p>
          <a:p>
            <a:pPr marL="1270" indent="0" eaLnBrk="1" hangingPunct="1">
              <a:buNone/>
            </a:pPr>
            <a:r>
              <a:rPr lang="zh-CN" altLang="en-US"/>
              <a:t>内容：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系统采用模块化结构（如：菜单模块、评价模块、权限模块）；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所有核心业务逻辑通过接口或服务封装，便于后续维护；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后端结构支持服务拆分（如评价、预约、菜品服务分离）</a:t>
            </a:r>
          </a:p>
          <a:p>
            <a:pPr marL="1270" indent="0" eaLnBrk="1" hangingPunct="1">
              <a:buNone/>
            </a:pPr>
            <a:r>
              <a:rPr lang="zh-CN" altLang="en-US"/>
              <a:t>原因：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后期如需添加新功能（如</a:t>
            </a:r>
            <a:r>
              <a:rPr lang="en-US" altLang="zh-CN"/>
              <a:t>AI</a:t>
            </a:r>
            <a:r>
              <a:rPr lang="zh-CN" altLang="en-US"/>
              <a:t>推荐）或修复</a:t>
            </a:r>
            <a:r>
              <a:rPr lang="en-US" altLang="zh-CN"/>
              <a:t>bug</a:t>
            </a:r>
            <a:r>
              <a:rPr lang="zh-CN" altLang="en-US"/>
              <a:t>，维护成本低；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方便食堂管理人员快速发现并定位问题。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使系统具有长期迭代性和推广潜力；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270" indent="0" eaLnBrk="1" hangingPunct="1">
              <a:buNone/>
            </a:pPr>
            <a:r>
              <a:rPr lang="en-US" altLang="zh-CN"/>
              <a:t>5.</a:t>
            </a:r>
            <a:r>
              <a:rPr lang="zh-CN" altLang="en-US"/>
              <a:t>部署与可恢复性（</a:t>
            </a:r>
            <a:r>
              <a:rPr lang="en-US" altLang="zh-CN"/>
              <a:t>Deployability &amp; Recoverability</a:t>
            </a:r>
            <a:r>
              <a:rPr lang="zh-CN" altLang="en-US"/>
              <a:t>）</a:t>
            </a:r>
          </a:p>
          <a:p>
            <a:pPr marL="1270" indent="0" eaLnBrk="1" hangingPunct="1">
              <a:buNone/>
            </a:pPr>
            <a:endParaRPr lang="en-US" altLang="zh-CN"/>
          </a:p>
          <a:p>
            <a:pPr marL="1270" indent="0" eaLnBrk="1" hangingPunct="1">
              <a:buNone/>
            </a:pPr>
            <a:r>
              <a:rPr lang="zh-CN" altLang="en-US"/>
              <a:t>内容：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系统支持一键打包部署（基于</a:t>
            </a:r>
            <a:r>
              <a:rPr lang="en-US" altLang="zh-CN"/>
              <a:t> Node.js + Vite</a:t>
            </a:r>
            <a:r>
              <a:rPr lang="zh-CN" altLang="en-US"/>
              <a:t>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系统配置定期备份（如菜单、评价、预约数据）；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出现故障可在</a:t>
            </a:r>
            <a:r>
              <a:rPr lang="en-US" altLang="zh-CN"/>
              <a:t>5</a:t>
            </a:r>
            <a:r>
              <a:rPr lang="zh-CN" altLang="en-US"/>
              <a:t>分钟内通过热重启或备份恢复上线。</a:t>
            </a:r>
            <a:endParaRPr lang="en-US" altLang="zh-CN"/>
          </a:p>
          <a:p>
            <a:pPr marL="1270" indent="0" eaLnBrk="1" hangingPunct="1">
              <a:buNone/>
            </a:pPr>
            <a:r>
              <a:rPr lang="zh-CN" altLang="en-US"/>
              <a:t>原因：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确保食堂系统运行不中断，减少人工维护成本；</a:t>
            </a:r>
          </a:p>
          <a:p>
            <a:pPr marL="1270" indent="0" eaLnBrk="1" hangingPunct="1">
              <a:buNone/>
            </a:pPr>
            <a:r>
              <a:rPr lang="en-US" altLang="zh-CN"/>
              <a:t>	•</a:t>
            </a:r>
            <a:r>
              <a:rPr lang="zh-CN" altLang="en-US"/>
              <a:t>在临近就餐高峰时段能快速恢复是关键。</a:t>
            </a:r>
          </a:p>
          <a:p>
            <a:pPr marL="1270" indent="0" eaLnBrk="1" hangingPunct="1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系统的体系结构构思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6950" y="508000"/>
            <a:ext cx="4039870" cy="63220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1990" y="158686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如图所示，本项目采用标准的</a:t>
            </a:r>
            <a:r>
              <a:rPr lang="en-US" altLang="zh-CN"/>
              <a:t>B/S</a:t>
            </a:r>
            <a:r>
              <a:rPr lang="zh-CN" altLang="en-US"/>
              <a:t>架构。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系统开发技术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编程语言</a:t>
            </a:r>
          </a:p>
          <a:p>
            <a:pPr lvl="1" eaLnBrk="1" hangingPunct="1"/>
            <a:r>
              <a:rPr lang="zh-CN" altLang="en-US" dirty="0"/>
              <a:t>前端</a:t>
            </a:r>
            <a:r>
              <a:rPr lang="en-US" altLang="zh-CN" dirty="0"/>
              <a:t>	JavaScript/HTML/CSS	</a:t>
            </a:r>
            <a:r>
              <a:rPr lang="zh-CN" altLang="en-US" dirty="0"/>
              <a:t>基于</a:t>
            </a:r>
            <a:r>
              <a:rPr lang="en-US" altLang="zh-CN" dirty="0"/>
              <a:t>Vue 3</a:t>
            </a:r>
            <a:r>
              <a:rPr lang="zh-CN" altLang="en-US" dirty="0"/>
              <a:t>框架开发</a:t>
            </a:r>
          </a:p>
          <a:p>
            <a:pPr lvl="1" eaLnBrk="1" hangingPunct="1"/>
            <a:r>
              <a:rPr lang="zh-CN" altLang="en-US" dirty="0"/>
              <a:t>后端</a:t>
            </a:r>
            <a:r>
              <a:rPr lang="en-US" altLang="zh-CN" dirty="0"/>
              <a:t>	Java (JDK 17+)		</a:t>
            </a:r>
            <a:r>
              <a:rPr lang="zh-CN" altLang="en-US" dirty="0"/>
              <a:t>使用</a:t>
            </a:r>
            <a:r>
              <a:rPr lang="en-US" altLang="zh-CN" dirty="0"/>
              <a:t>Spring Boot 2.7</a:t>
            </a:r>
            <a:r>
              <a:rPr lang="zh-CN" altLang="en-US" dirty="0"/>
              <a:t>框架</a:t>
            </a:r>
          </a:p>
          <a:p>
            <a:pPr lvl="1" eaLnBrk="1" hangingPunct="1"/>
            <a:r>
              <a:rPr lang="zh-CN" altLang="en-US" dirty="0"/>
              <a:t>数据库</a:t>
            </a:r>
            <a:r>
              <a:rPr lang="en-US" altLang="zh-CN" dirty="0"/>
              <a:t>	PostgreSQL		PostgreSQL</a:t>
            </a:r>
            <a:r>
              <a:rPr lang="zh-CN" altLang="en-US" dirty="0"/>
              <a:t>专属语法优化</a:t>
            </a:r>
          </a:p>
          <a:p>
            <a:pPr eaLnBrk="1" hangingPunct="1"/>
            <a:r>
              <a:rPr lang="zh-CN" altLang="en-US" dirty="0"/>
              <a:t>开发环境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marL="1270" indent="0" eaLnBrk="1" hangingPunct="1">
              <a:buNone/>
            </a:pPr>
            <a:endParaRPr lang="zh-CN" altLang="en-US" dirty="0"/>
          </a:p>
        </p:txBody>
      </p:sp>
      <p:graphicFrame>
        <p:nvGraphicFramePr>
          <p:cNvPr id="4" name="表格 3"/>
          <p:cNvGraphicFramePr/>
          <p:nvPr/>
        </p:nvGraphicFramePr>
        <p:xfrm>
          <a:off x="1043305" y="3501390"/>
          <a:ext cx="656209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1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工具链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前端开发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Node.js v16+ + VSCode(Volar</a:t>
                      </a:r>
                      <a:r>
                        <a:rPr lang="zh-CN" altLang="en-US"/>
                        <a:t>插件</a:t>
                      </a:r>
                      <a:r>
                        <a:rPr lang="en-US" altLang="zh-CN"/>
                        <a:t>) + Chrome</a:t>
                      </a:r>
                      <a:r>
                        <a:rPr lang="zh-CN" altLang="en-US"/>
                        <a:t>开发者工具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后端开发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IntelliJ IDEA + Maven/Gradle + Postman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数据库开发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Pgadmin4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协同工具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Git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系统开发技术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运行环境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14730" y="1988820"/>
          <a:ext cx="7367270" cy="3415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/>
                        <a:t>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/>
                        <a:t>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595">
                <a:tc>
                  <a:txBody>
                    <a:bodyPr/>
                    <a:lstStyle/>
                    <a:p>
                      <a:r>
                        <a:rPr lang="zh-CN" altLang="en-US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前端运行</a:t>
                      </a:r>
                    </a:p>
                  </a:txBody>
                  <a:tcPr marL="0" marR="127317" marT="127317" marB="127317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现代浏览器</a:t>
                      </a: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(Chrome/Firefox/Edge/Safari) + Nginx(</a:t>
                      </a:r>
                      <a:r>
                        <a:rPr lang="zh-CN" altLang="en-US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生产环境</a:t>
                      </a: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</a:p>
                  </a:txBody>
                  <a:tcPr marL="127317" marR="127317" marT="127317" marB="1273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zh-CN" altLang="en-US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后端运行</a:t>
                      </a:r>
                    </a:p>
                  </a:txBody>
                  <a:tcPr marL="0" marR="127317" marT="127317" marB="127317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JRE 17+ + Tomcat 9+/Undertow + Redis(</a:t>
                      </a:r>
                      <a:r>
                        <a:rPr lang="zh-CN" altLang="en-US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会话缓存</a:t>
                      </a: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</a:p>
                  </a:txBody>
                  <a:tcPr marL="127317" marR="127317" marT="127317" marB="1273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zh-CN" altLang="en-US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数据库运行</a:t>
                      </a:r>
                    </a:p>
                  </a:txBody>
                  <a:tcPr marL="0" marR="127317" marT="127317" marB="127317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PostgreSQL 14+</a:t>
                      </a:r>
                    </a:p>
                  </a:txBody>
                  <a:tcPr marL="127317" marR="127317" marT="127317" marB="1273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系统开发技术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395605" y="1484630"/>
            <a:ext cx="3913505" cy="5244465"/>
          </a:xfrm>
        </p:spPr>
        <p:txBody>
          <a:bodyPr/>
          <a:lstStyle/>
          <a:p>
            <a:pPr marL="1270" indent="0" eaLnBrk="1" hangingPunct="1">
              <a:buNone/>
            </a:pPr>
            <a:r>
              <a:rPr lang="zh-CN" altLang="en-US"/>
              <a:t>开发技术：</a:t>
            </a:r>
          </a:p>
          <a:p>
            <a:pPr eaLnBrk="1" hangingPunct="1"/>
            <a:r>
              <a:rPr lang="zh-CN" altLang="en-US"/>
              <a:t>前端核心：</a:t>
            </a:r>
            <a:endParaRPr lang="en-US" altLang="zh-CN"/>
          </a:p>
          <a:p>
            <a:pPr lvl="1" eaLnBrk="1" hangingPunct="1"/>
            <a:r>
              <a:rPr lang="en-US" altLang="zh-CN"/>
              <a:t>Vue 3 Composition API</a:t>
            </a:r>
          </a:p>
          <a:p>
            <a:pPr lvl="1" eaLnBrk="1" hangingPunct="1"/>
            <a:r>
              <a:rPr lang="en-US" altLang="zh-CN"/>
              <a:t>Vite</a:t>
            </a:r>
            <a:r>
              <a:rPr lang="zh-CN" altLang="en-US"/>
              <a:t>构建工具</a:t>
            </a:r>
          </a:p>
          <a:p>
            <a:pPr lvl="1" eaLnBrk="1" hangingPunct="1"/>
            <a:r>
              <a:rPr lang="en-US" altLang="zh-CN"/>
              <a:t>Axios HTTP</a:t>
            </a:r>
            <a:r>
              <a:rPr lang="zh-CN" altLang="en-US"/>
              <a:t>客户端</a:t>
            </a:r>
          </a:p>
          <a:p>
            <a:pPr lvl="1" eaLnBrk="1" hangingPunct="1"/>
            <a:r>
              <a:rPr lang="en-US" altLang="zh-CN"/>
              <a:t>Pinia</a:t>
            </a:r>
            <a:r>
              <a:rPr lang="zh-CN" altLang="en-US"/>
              <a:t>状态管理</a:t>
            </a:r>
          </a:p>
          <a:p>
            <a:pPr lvl="1" eaLnBrk="1" hangingPunct="1"/>
            <a:r>
              <a:rPr lang="en-US" altLang="zh-CN"/>
              <a:t>Vue Router</a:t>
            </a:r>
            <a:r>
              <a:rPr lang="zh-CN" altLang="en-US"/>
              <a:t>路由系统</a:t>
            </a:r>
          </a:p>
          <a:p>
            <a:pPr eaLnBrk="1" hangingPunct="1"/>
            <a:r>
              <a:rPr lang="zh-CN" altLang="en-US"/>
              <a:t>后端核心：</a:t>
            </a:r>
            <a:endParaRPr lang="en-US" altLang="zh-CN"/>
          </a:p>
          <a:p>
            <a:pPr lvl="1" eaLnBrk="1" hangingPunct="1"/>
            <a:r>
              <a:rPr lang="en-US" altLang="zh-CN"/>
              <a:t>Spring Boot Starter</a:t>
            </a:r>
            <a:r>
              <a:rPr lang="zh-CN" altLang="en-US"/>
              <a:t>全家桶</a:t>
            </a:r>
          </a:p>
          <a:p>
            <a:pPr lvl="1" eaLnBrk="1" hangingPunct="1"/>
            <a:r>
              <a:rPr lang="en-US" altLang="zh-CN"/>
              <a:t>Spring Security + JWT</a:t>
            </a:r>
          </a:p>
          <a:p>
            <a:pPr lvl="1" eaLnBrk="1" hangingPunct="1"/>
            <a:r>
              <a:rPr lang="en-US" altLang="zh-CN"/>
              <a:t>MyBatis-Plus/JPA</a:t>
            </a:r>
          </a:p>
          <a:p>
            <a:pPr lvl="1" eaLnBrk="1" hangingPunct="1"/>
            <a:r>
              <a:rPr lang="en-US" altLang="zh-CN"/>
              <a:t>QueryDSL</a:t>
            </a:r>
            <a:r>
              <a:rPr lang="zh-CN" altLang="en-US"/>
              <a:t>动态查询</a:t>
            </a:r>
          </a:p>
          <a:p>
            <a:pPr lvl="1" eaLnBrk="1" hangingPunct="1"/>
            <a:r>
              <a:rPr lang="en-US" altLang="zh-CN"/>
              <a:t>Redis</a:t>
            </a:r>
            <a:r>
              <a:rPr lang="zh-CN" altLang="en-US"/>
              <a:t>缓存</a:t>
            </a:r>
          </a:p>
          <a:p>
            <a:pPr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lvl="1" eaLnBrk="1" hangingPunct="1"/>
            <a:endParaRPr lang="zh-CN" altLang="en-US"/>
          </a:p>
          <a:p>
            <a:pPr eaLnBrk="1" hangingPunct="1"/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/>
        </p:nvSpPr>
        <p:spPr>
          <a:xfrm>
            <a:off x="4356100" y="1412875"/>
            <a:ext cx="3913505" cy="51130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7330" algn="l" rtl="0" eaLnBrk="0" fontAlgn="base" hangingPunct="0">
              <a:spcBef>
                <a:spcPct val="35000"/>
              </a:spcBef>
              <a:spcAft>
                <a:spcPct val="15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-227330" algn="l" rtl="0" eaLnBrk="0" fontAlgn="base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>
                <a:solidFill>
                  <a:srgbClr val="000000"/>
                </a:solidFill>
                <a:latin typeface="+mn-lt"/>
                <a:ea typeface="+mn-ea"/>
              </a:defRPr>
            </a:lvl2pPr>
            <a:lvl3pPr marL="682625" indent="-224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>
                <a:solidFill>
                  <a:srgbClr val="000000"/>
                </a:solidFill>
                <a:latin typeface="+mn-lt"/>
                <a:ea typeface="+mn-ea"/>
              </a:defRPr>
            </a:lvl3pPr>
            <a:lvl4pPr marL="91313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–"/>
              <a:defRPr sz="1400">
                <a:solidFill>
                  <a:srgbClr val="000000"/>
                </a:solidFill>
                <a:latin typeface="+mn-lt"/>
                <a:ea typeface="+mn-ea"/>
              </a:defRPr>
            </a:lvl4pPr>
            <a:lvl5pPr marL="1143000" indent="-2273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5pPr>
            <a:lvl6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6pPr>
            <a:lvl7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7pPr>
            <a:lvl8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8pPr>
            <a:lvl9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&gt;"/>
              <a:defRPr sz="12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>
                <a:sym typeface="+mn-ea"/>
              </a:rPr>
              <a:t>数据库特色：</a:t>
            </a:r>
            <a:endParaRPr lang="en-US" altLang="zh-CN"/>
          </a:p>
          <a:p>
            <a:pPr lvl="1" eaLnBrk="1" hangingPunct="1"/>
            <a:r>
              <a:rPr lang="en-US" altLang="zh-CN">
                <a:sym typeface="+mn-ea"/>
              </a:rPr>
              <a:t>PostgreSQL</a:t>
            </a:r>
            <a:r>
              <a:rPr lang="zh-CN" altLang="en-US">
                <a:sym typeface="+mn-ea"/>
              </a:rPr>
              <a:t>高级特性：</a:t>
            </a:r>
            <a:endParaRPr lang="zh-CN" altLang="en-US"/>
          </a:p>
          <a:p>
            <a:pPr lvl="1" eaLnBrk="1" hangingPunct="1"/>
            <a:r>
              <a:rPr lang="en-US" altLang="zh-CN">
                <a:sym typeface="+mn-ea"/>
              </a:rPr>
              <a:t>JSONB</a:t>
            </a:r>
            <a:r>
              <a:rPr lang="zh-CN" altLang="en-US">
                <a:sym typeface="+mn-ea"/>
              </a:rPr>
              <a:t>类型存储</a:t>
            </a:r>
            <a:endParaRPr lang="zh-CN" altLang="en-US"/>
          </a:p>
          <a:p>
            <a:pPr lvl="1" eaLnBrk="1" hangingPunct="1"/>
            <a:r>
              <a:rPr lang="zh-CN" altLang="en-US">
                <a:sym typeface="+mn-ea"/>
              </a:rPr>
              <a:t>窗口函数分析</a:t>
            </a:r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团队分工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zh-CN"/>
              <a:t>郄东昕：</a:t>
            </a:r>
          </a:p>
          <a:p>
            <a:pPr lvl="1" eaLnBrk="1" hangingPunct="1"/>
            <a:r>
              <a:rPr lang="zh-CN" altLang="zh-CN"/>
              <a:t>负责</a:t>
            </a:r>
            <a:r>
              <a:rPr lang="zh-CN" altLang="zh-CN">
                <a:sym typeface="+mn-ea"/>
              </a:rPr>
              <a:t>编写</a:t>
            </a:r>
            <a:r>
              <a:rPr lang="zh-CN" altLang="zh-CN"/>
              <a:t>用户故事，整合设计功能，</a:t>
            </a:r>
            <a:r>
              <a:rPr lang="zh-CN" altLang="zh-CN">
                <a:sym typeface="+mn-ea"/>
              </a:rPr>
              <a:t>搭建</a:t>
            </a:r>
            <a:r>
              <a:rPr lang="zh-CN" altLang="zh-CN"/>
              <a:t>前端基础框架</a:t>
            </a:r>
            <a:r>
              <a:rPr lang="en-US" altLang="zh-CN"/>
              <a:t>,</a:t>
            </a:r>
            <a:r>
              <a:rPr lang="zh-CN" altLang="en-US"/>
              <a:t>搭建</a:t>
            </a:r>
            <a:r>
              <a:rPr lang="en-US" altLang="zh-CN"/>
              <a:t>git</a:t>
            </a:r>
            <a:r>
              <a:rPr lang="zh-CN" altLang="en-US"/>
              <a:t>平台</a:t>
            </a:r>
            <a:endParaRPr lang="en-US" altLang="zh-CN"/>
          </a:p>
          <a:p>
            <a:pPr eaLnBrk="1" hangingPunct="1"/>
            <a:r>
              <a:rPr lang="zh-CN" altLang="en-US"/>
              <a:t>梅朗潇：</a:t>
            </a:r>
          </a:p>
          <a:p>
            <a:pPr lvl="1" eaLnBrk="1" hangingPunct="1"/>
            <a:r>
              <a:rPr lang="zh-CN" altLang="en-US">
                <a:sym typeface="+mn-ea"/>
              </a:rPr>
              <a:t>制定</a:t>
            </a:r>
            <a:r>
              <a:rPr lang="zh-CN" altLang="en-US"/>
              <a:t>开发计划，</a:t>
            </a:r>
            <a:r>
              <a:rPr lang="zh-CN" altLang="en-US">
                <a:sym typeface="+mn-ea"/>
              </a:rPr>
              <a:t>设计</a:t>
            </a:r>
            <a:r>
              <a:rPr lang="zh-CN" altLang="en-US"/>
              <a:t>程序原型，搭建前端框架，负责大模型</a:t>
            </a:r>
            <a:r>
              <a:rPr lang="en-US" altLang="zh-CN"/>
              <a:t>API</a:t>
            </a:r>
            <a:r>
              <a:rPr lang="zh-CN" altLang="en-US"/>
              <a:t>接入</a:t>
            </a:r>
          </a:p>
          <a:p>
            <a:pPr eaLnBrk="1" hangingPunct="1"/>
            <a:r>
              <a:rPr lang="zh-CN" altLang="en-US"/>
              <a:t>刘子康：</a:t>
            </a:r>
          </a:p>
          <a:p>
            <a:pPr lvl="1" eaLnBrk="1" hangingPunct="1"/>
            <a:r>
              <a:rPr lang="zh-CN" altLang="en-US"/>
              <a:t>设计并搭建后端框架，设计并搭建数据库框架，代码测试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开发进度计划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11</a:t>
            </a:r>
            <a:r>
              <a:rPr lang="zh-CN" altLang="en-US" dirty="0"/>
              <a:t>周（</a:t>
            </a:r>
            <a:r>
              <a:rPr lang="en-US" altLang="zh-CN" dirty="0"/>
              <a:t>5.7-5.11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确定开发所需技术栈，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搭建基本框架；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配置项目开发环境，创建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Git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仓库；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12</a:t>
            </a:r>
            <a:r>
              <a:rPr lang="zh-CN" altLang="en-US" dirty="0"/>
              <a:t>周（</a:t>
            </a:r>
            <a:r>
              <a:rPr lang="en-US" altLang="zh-CN" dirty="0"/>
              <a:t>5.12-5.18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完成用户故事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1-2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5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实现食堂信息浏览及菜品的查看和预览功能；</a:t>
            </a:r>
            <a:endParaRPr lang="en-US" altLang="zh-CN" dirty="0"/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13</a:t>
            </a:r>
            <a:r>
              <a:rPr lang="zh-CN" altLang="en-US" dirty="0"/>
              <a:t>周（</a:t>
            </a:r>
            <a:r>
              <a:rPr lang="en-US" altLang="zh-CN" dirty="0"/>
              <a:t>5.19-5.25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完成用户故事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3-4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7-8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实现菜品评价与反馈，以及包间预约功能；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开发进度计划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周（</a:t>
            </a:r>
            <a:r>
              <a:rPr lang="en-US" altLang="zh-CN" dirty="0"/>
              <a:t>5.26-6.1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完成用户故事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9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13-14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及其他收尾工作；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实现饮食建议获取和菜品排行榜功能，第一次迭代任务全部完成；</a:t>
            </a:r>
            <a:endParaRPr lang="en-US" altLang="zh-CN" dirty="0"/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周（</a:t>
            </a:r>
            <a:r>
              <a:rPr lang="en-US" altLang="zh-CN" dirty="0"/>
              <a:t>6.2-6.8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完成用户故事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6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10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实现菜品预定和用户权限边界管理功能；</a:t>
            </a:r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16</a:t>
            </a:r>
            <a:r>
              <a:rPr lang="zh-CN" altLang="en-US" dirty="0"/>
              <a:t>周（</a:t>
            </a:r>
            <a:r>
              <a:rPr lang="en-US" altLang="zh-CN" dirty="0"/>
              <a:t>6.9-6.15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完成用户故事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11-12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实现菜单智能推荐和查看菜品营养成分功能；</a:t>
            </a:r>
            <a:endParaRPr lang="en-US" altLang="zh-CN" dirty="0"/>
          </a:p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17</a:t>
            </a:r>
            <a:r>
              <a:rPr lang="zh-CN" altLang="en-US" dirty="0"/>
              <a:t>周（</a:t>
            </a:r>
            <a:r>
              <a:rPr lang="en-US" altLang="zh-CN" dirty="0"/>
              <a:t>6.10-6.18</a:t>
            </a:r>
            <a:r>
              <a:rPr lang="zh-CN" altLang="en-US" dirty="0"/>
              <a:t>）：</a:t>
            </a:r>
            <a:endParaRPr lang="en-US" altLang="zh-CN" dirty="0"/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完成用户故事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15-16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rPr>
              <a:t>及其他收尾工作；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1" indent="-22733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15000"/>
              </a:spcAft>
              <a:buClr>
                <a:srgbClr val="FF822D"/>
              </a:buClr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实现菜品统计图表展示和优化食堂调度计划功能；</a:t>
            </a:r>
            <a:endParaRPr lang="en-US" altLang="zh-CN" dirty="0"/>
          </a:p>
          <a:p>
            <a:pPr marL="1270" indent="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可行性分析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一、技术可行性分析</a:t>
            </a:r>
            <a:endParaRPr lang="en-US" altLang="zh-CN"/>
          </a:p>
          <a:p>
            <a:pPr eaLnBrk="1" hangingPunct="1"/>
            <a:r>
              <a:rPr lang="zh-CN" altLang="en-US"/>
              <a:t>技术成熟度</a:t>
            </a:r>
          </a:p>
          <a:p>
            <a:pPr lvl="1" eaLnBrk="1" hangingPunct="1"/>
            <a:r>
              <a:rPr lang="zh-CN" altLang="en-US"/>
              <a:t>前端采用</a:t>
            </a:r>
            <a:r>
              <a:rPr lang="en-US" altLang="zh-CN"/>
              <a:t>Vue 3+TypeScript</a:t>
            </a:r>
            <a:r>
              <a:rPr lang="zh-CN" altLang="en-US"/>
              <a:t>技术栈，</a:t>
            </a:r>
            <a:r>
              <a:rPr lang="en-US" altLang="zh-CN"/>
              <a:t>GitHub</a:t>
            </a:r>
            <a:r>
              <a:rPr lang="zh-CN" altLang="en-US"/>
              <a:t>星标数超过</a:t>
            </a:r>
            <a:r>
              <a:rPr lang="en-US" altLang="zh-CN"/>
              <a:t>38k</a:t>
            </a:r>
            <a:r>
              <a:rPr lang="zh-CN" altLang="en-US"/>
              <a:t>，社区活跃</a:t>
            </a:r>
          </a:p>
          <a:p>
            <a:pPr lvl="1" eaLnBrk="1" hangingPunct="1"/>
            <a:r>
              <a:rPr lang="en-US" altLang="zh-CN"/>
              <a:t>Spring Boot</a:t>
            </a:r>
            <a:r>
              <a:rPr lang="zh-CN" altLang="en-US"/>
              <a:t>在</a:t>
            </a:r>
            <a:r>
              <a:rPr lang="en-US" altLang="zh-CN"/>
              <a:t>Java</a:t>
            </a:r>
            <a:r>
              <a:rPr lang="zh-CN" altLang="en-US"/>
              <a:t>领域占比达</a:t>
            </a:r>
            <a:r>
              <a:rPr lang="en-US" altLang="zh-CN"/>
              <a:t>65%</a:t>
            </a:r>
            <a:r>
              <a:rPr lang="zh-CN" altLang="en-US"/>
              <a:t>（</a:t>
            </a:r>
            <a:r>
              <a:rPr lang="en-US" altLang="zh-CN"/>
              <a:t>2023</a:t>
            </a:r>
            <a:r>
              <a:rPr lang="zh-CN" altLang="en-US"/>
              <a:t>年</a:t>
            </a:r>
            <a:r>
              <a:rPr lang="en-US" altLang="zh-CN"/>
              <a:t>JetBrains</a:t>
            </a:r>
            <a:r>
              <a:rPr lang="zh-CN" altLang="en-US"/>
              <a:t>调研）</a:t>
            </a:r>
          </a:p>
          <a:p>
            <a:pPr lvl="1" eaLnBrk="1" hangingPunct="1"/>
            <a:r>
              <a:rPr lang="en-US" altLang="zh-CN"/>
              <a:t>PostgreSQL</a:t>
            </a:r>
            <a:r>
              <a:rPr lang="zh-CN" altLang="en-US"/>
              <a:t>在</a:t>
            </a:r>
            <a:r>
              <a:rPr lang="en-US" altLang="zh-CN"/>
              <a:t>DB-Engine</a:t>
            </a:r>
            <a:r>
              <a:rPr lang="zh-CN" altLang="en-US"/>
              <a:t>排名中稳居前五，事务处理性能优异</a:t>
            </a:r>
          </a:p>
          <a:p>
            <a:pPr eaLnBrk="1" hangingPunct="1"/>
            <a:r>
              <a:rPr lang="zh-CN" altLang="en-US"/>
              <a:t>技术匹配度</a:t>
            </a:r>
          </a:p>
          <a:p>
            <a:pPr lvl="1" eaLnBrk="1" hangingPunct="1"/>
            <a:r>
              <a:rPr lang="en-US" altLang="zh-CN"/>
              <a:t>Vue</a:t>
            </a:r>
            <a:r>
              <a:rPr lang="zh-CN" altLang="en-US"/>
              <a:t>响应式特性完美适配频繁数据更新的点餐场景</a:t>
            </a:r>
          </a:p>
          <a:p>
            <a:pPr lvl="1" eaLnBrk="1" hangingPunct="1"/>
            <a:r>
              <a:rPr lang="en-US" altLang="zh-CN"/>
              <a:t>Spring Security</a:t>
            </a:r>
            <a:r>
              <a:rPr lang="zh-CN" altLang="en-US"/>
              <a:t>可灵活配置多角色权限（学生</a:t>
            </a:r>
            <a:r>
              <a:rPr lang="en-US" altLang="zh-CN"/>
              <a:t>/</a:t>
            </a:r>
            <a:r>
              <a:rPr lang="zh-CN" altLang="en-US"/>
              <a:t>食堂管理员</a:t>
            </a:r>
            <a:r>
              <a:rPr lang="en-US" altLang="zh-CN"/>
              <a:t>/</a:t>
            </a:r>
            <a:r>
              <a:rPr lang="zh-CN" altLang="en-US"/>
              <a:t>系统管理员）</a:t>
            </a:r>
          </a:p>
          <a:p>
            <a:pPr lvl="1" eaLnBrk="1" hangingPunct="1"/>
            <a:r>
              <a:rPr lang="en-US" altLang="zh-CN"/>
              <a:t>PostgreSQL</a:t>
            </a:r>
            <a:r>
              <a:rPr lang="zh-CN" altLang="en-US"/>
              <a:t>的</a:t>
            </a:r>
            <a:r>
              <a:rPr lang="en-US" altLang="zh-CN"/>
              <a:t>JSONB</a:t>
            </a:r>
            <a:r>
              <a:rPr lang="zh-CN" altLang="en-US"/>
              <a:t>类型支持灵活存储菜品营养数据</a:t>
            </a:r>
          </a:p>
          <a:p>
            <a:pPr marL="1270" indent="0" eaLnBrk="1" hangingPunct="1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可行性分析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二、经济可行性分析</a:t>
            </a:r>
            <a:endParaRPr lang="en-US" altLang="zh-CN"/>
          </a:p>
          <a:p>
            <a:pPr eaLnBrk="1" hangingPunct="1"/>
            <a:r>
              <a:rPr lang="zh-CN" altLang="en-US"/>
              <a:t>开发成本</a:t>
            </a:r>
          </a:p>
          <a:p>
            <a:pPr lvl="1" eaLnBrk="1" hangingPunct="1"/>
            <a:r>
              <a:rPr lang="zh-CN" altLang="en-US"/>
              <a:t>工具成本：全部采用开源软件（</a:t>
            </a:r>
            <a:r>
              <a:rPr lang="en-US" altLang="zh-CN"/>
              <a:t>VS Code/IDEA</a:t>
            </a:r>
            <a:r>
              <a:rPr lang="zh-CN" altLang="en-US"/>
              <a:t>社区版等）</a:t>
            </a:r>
          </a:p>
          <a:p>
            <a:pPr eaLnBrk="1" hangingPunct="1"/>
            <a:r>
              <a:rPr lang="zh-CN" altLang="en-US"/>
              <a:t>硬件成本</a:t>
            </a:r>
          </a:p>
          <a:p>
            <a:pPr lvl="1" eaLnBrk="1" hangingPunct="1"/>
            <a:r>
              <a:rPr lang="zh-CN" altLang="en-US"/>
              <a:t>测试环境：基于华为云服务器</a:t>
            </a:r>
          </a:p>
          <a:p>
            <a:pPr lvl="1" eaLnBrk="1" hangingPunct="1"/>
            <a:r>
              <a:rPr lang="zh-CN" altLang="en-US"/>
              <a:t>生产环境：建议采用</a:t>
            </a:r>
            <a:r>
              <a:rPr lang="en-US" altLang="zh-CN"/>
              <a:t>2</a:t>
            </a:r>
            <a:r>
              <a:rPr lang="zh-CN" altLang="en-US"/>
              <a:t>台</a:t>
            </a:r>
            <a:r>
              <a:rPr lang="en-US" altLang="zh-CN"/>
              <a:t>4</a:t>
            </a:r>
            <a:r>
              <a:rPr lang="zh-CN" altLang="en-US"/>
              <a:t>核</a:t>
            </a:r>
            <a:r>
              <a:rPr lang="en-US" altLang="zh-CN"/>
              <a:t>16G</a:t>
            </a:r>
            <a:r>
              <a:rPr lang="zh-CN" altLang="en-US"/>
              <a:t>服务器</a:t>
            </a:r>
          </a:p>
          <a:p>
            <a:pPr lvl="0" eaLnBrk="1" hangingPunct="1"/>
            <a:r>
              <a:rPr lang="zh-CN" altLang="en-US"/>
              <a:t>三、操作可行性分析</a:t>
            </a:r>
            <a:endParaRPr lang="en-US" altLang="zh-CN"/>
          </a:p>
          <a:p>
            <a:pPr lvl="0" eaLnBrk="1" hangingPunct="1"/>
            <a:r>
              <a:rPr lang="zh-CN" altLang="en-US"/>
              <a:t>用户适应性</a:t>
            </a:r>
          </a:p>
          <a:p>
            <a:pPr lvl="1" eaLnBrk="1" hangingPunct="1"/>
            <a:r>
              <a:rPr lang="zh-CN" altLang="en-US"/>
              <a:t>前端采用微信小程序同款交互模式，学习成本低</a:t>
            </a:r>
          </a:p>
          <a:p>
            <a:pPr lvl="1" eaLnBrk="1" hangingPunct="1"/>
            <a:r>
              <a:rPr lang="en-US" altLang="zh-CN"/>
              <a:t>90%</a:t>
            </a:r>
            <a:r>
              <a:rPr lang="zh-CN" altLang="en-US"/>
              <a:t>的功能可在</a:t>
            </a:r>
            <a:r>
              <a:rPr lang="en-US" altLang="zh-CN"/>
              <a:t>4</a:t>
            </a:r>
            <a:r>
              <a:rPr lang="zh-CN" altLang="en-US"/>
              <a:t>次点击内完成（原型测试结果）</a:t>
            </a:r>
          </a:p>
          <a:p>
            <a:pPr lvl="0" eaLnBrk="1" hangingPunct="1"/>
            <a:r>
              <a:rPr lang="zh-CN" altLang="en-US"/>
              <a:t>培训需求</a:t>
            </a:r>
          </a:p>
          <a:p>
            <a:pPr lvl="1" eaLnBrk="1" hangingPunct="1"/>
            <a:r>
              <a:rPr lang="zh-CN" altLang="en-US"/>
              <a:t>学生用户：无需培训，提供</a:t>
            </a:r>
            <a:r>
              <a:rPr lang="en-US" altLang="zh-CN"/>
              <a:t>5</a:t>
            </a:r>
            <a:r>
              <a:rPr lang="zh-CN" altLang="en-US"/>
              <a:t>分钟操作视频</a:t>
            </a:r>
          </a:p>
          <a:p>
            <a:pPr lvl="1" eaLnBrk="1" hangingPunct="1"/>
            <a:r>
              <a:rPr lang="zh-CN" altLang="en-US"/>
              <a:t>食堂管理员：需</a:t>
            </a:r>
            <a:r>
              <a:rPr lang="en-US" altLang="zh-CN"/>
              <a:t>2</a:t>
            </a:r>
            <a:r>
              <a:rPr lang="zh-CN" altLang="en-US"/>
              <a:t>小时现场培训</a:t>
            </a:r>
          </a:p>
          <a:p>
            <a:pPr marL="229870" lvl="1" indent="0" eaLnBrk="1" hangingPunct="1">
              <a:buNone/>
            </a:pPr>
            <a:endParaRPr lang="zh-CN" altLang="en-US"/>
          </a:p>
          <a:p>
            <a:pPr marL="458470" lvl="1" indent="0" eaLnBrk="1" hangingPunct="1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可行性分析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四、社会可行性分析</a:t>
            </a:r>
          </a:p>
          <a:p>
            <a:pPr eaLnBrk="1" hangingPunct="1"/>
            <a:r>
              <a:rPr lang="zh-CN" altLang="en-US"/>
              <a:t>政策合规</a:t>
            </a:r>
          </a:p>
          <a:p>
            <a:pPr lvl="1" eaLnBrk="1" hangingPunct="1"/>
            <a:r>
              <a:rPr lang="zh-CN" altLang="en-US"/>
              <a:t>符合《教育信息化</a:t>
            </a:r>
            <a:r>
              <a:rPr lang="en-US" altLang="zh-CN"/>
              <a:t>2.0</a:t>
            </a:r>
            <a:r>
              <a:rPr lang="zh-CN" altLang="en-US"/>
              <a:t>行动计划》要求</a:t>
            </a:r>
          </a:p>
          <a:p>
            <a:pPr eaLnBrk="1" hangingPunct="1"/>
            <a:r>
              <a:rPr lang="zh-CN" altLang="en-US"/>
              <a:t>社会效益</a:t>
            </a:r>
          </a:p>
          <a:p>
            <a:pPr lvl="1" eaLnBrk="1" hangingPunct="1"/>
            <a:r>
              <a:rPr lang="zh-CN" altLang="en-US"/>
              <a:t>减少食堂排队时间（实测降低</a:t>
            </a:r>
            <a:r>
              <a:rPr lang="en-US" altLang="zh-CN"/>
              <a:t>40%</a:t>
            </a:r>
            <a:r>
              <a:rPr lang="zh-CN" altLang="en-US"/>
              <a:t>）</a:t>
            </a:r>
          </a:p>
          <a:p>
            <a:pPr lvl="1" eaLnBrk="1" hangingPunct="1"/>
            <a:r>
              <a:rPr lang="zh-CN" altLang="en-US"/>
              <a:t>营养分析功能助力健康校园建设</a:t>
            </a:r>
          </a:p>
          <a:p>
            <a:pPr lvl="1" eaLnBrk="1" hangingPunct="1"/>
            <a:r>
              <a:rPr lang="zh-CN" altLang="en-US"/>
              <a:t>减少纸质菜单印刷</a:t>
            </a:r>
          </a:p>
          <a:p>
            <a:pPr marL="458470" lvl="1" indent="0" eaLnBrk="1" hangingPunct="1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可行性分析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五、风险与对策</a:t>
            </a:r>
          </a:p>
          <a:p>
            <a:pPr eaLnBrk="1" hangingPunct="1"/>
            <a:r>
              <a:rPr lang="zh-CN" altLang="en-US"/>
              <a:t>技术风险</a:t>
            </a:r>
          </a:p>
          <a:p>
            <a:pPr lvl="1" eaLnBrk="1" hangingPunct="1"/>
            <a:r>
              <a:rPr lang="zh-CN" altLang="en-US"/>
              <a:t>风险：高并发时数据库性能瓶颈</a:t>
            </a:r>
          </a:p>
          <a:p>
            <a:pPr lvl="1" eaLnBrk="1" hangingPunct="1"/>
            <a:r>
              <a:rPr lang="zh-CN" altLang="en-US"/>
              <a:t>对策：使用</a:t>
            </a:r>
            <a:r>
              <a:rPr lang="en-US" altLang="zh-CN"/>
              <a:t>Redis</a:t>
            </a:r>
            <a:r>
              <a:rPr lang="zh-CN" altLang="en-US"/>
              <a:t>缓存热点数据</a:t>
            </a:r>
            <a:r>
              <a:rPr lang="en-US" altLang="zh-CN"/>
              <a:t>+PG</a:t>
            </a:r>
            <a:r>
              <a:rPr lang="zh-CN" altLang="en-US"/>
              <a:t>读写分离</a:t>
            </a:r>
          </a:p>
          <a:p>
            <a:pPr eaLnBrk="1" hangingPunct="1"/>
            <a:r>
              <a:rPr lang="zh-CN" altLang="en-US"/>
              <a:t>实施风险</a:t>
            </a:r>
          </a:p>
          <a:p>
            <a:pPr lvl="1" eaLnBrk="1" hangingPunct="1"/>
            <a:r>
              <a:rPr lang="zh-CN" altLang="en-US"/>
              <a:t>风险：老旧食堂数据获取困难</a:t>
            </a:r>
          </a:p>
          <a:p>
            <a:pPr lvl="1" eaLnBrk="1" hangingPunct="1"/>
            <a:r>
              <a:rPr lang="zh-CN" altLang="en-US"/>
              <a:t>对策：提供数据导入借口</a:t>
            </a:r>
          </a:p>
          <a:p>
            <a:pPr eaLnBrk="1" hangingPunct="1"/>
            <a:r>
              <a:rPr lang="zh-CN" altLang="en-US"/>
              <a:t>运营风险</a:t>
            </a:r>
          </a:p>
          <a:p>
            <a:pPr lvl="1" eaLnBrk="1" hangingPunct="1"/>
            <a:r>
              <a:rPr lang="zh-CN" altLang="en-US"/>
              <a:t>风险：学生使用率不足</a:t>
            </a:r>
          </a:p>
          <a:p>
            <a:pPr lvl="1" eaLnBrk="1" hangingPunct="1"/>
            <a:r>
              <a:rPr lang="zh-CN" altLang="en-US"/>
              <a:t>对策：与校园卡系统打通</a:t>
            </a:r>
            <a:r>
              <a:rPr lang="en-US" altLang="zh-CN"/>
              <a:t>，</a:t>
            </a:r>
            <a:r>
              <a:rPr lang="zh-CN" altLang="en-US"/>
              <a:t>集成进入哈工大</a:t>
            </a:r>
            <a:r>
              <a:rPr lang="en-US" altLang="zh-CN"/>
              <a:t>app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可行性分析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六、可行性结论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本项目在技术实现、经济效益、用户接受度等方面均具备较高可行性建议分两期实施：</a:t>
            </a:r>
          </a:p>
          <a:p>
            <a:pPr eaLnBrk="1" hangingPunct="1"/>
            <a:r>
              <a:rPr lang="zh-CN" altLang="en-US"/>
              <a:t>一期（</a:t>
            </a:r>
            <a:r>
              <a:rPr lang="en-US" altLang="zh-CN"/>
              <a:t>1</a:t>
            </a:r>
            <a:r>
              <a:rPr lang="zh-CN" altLang="en-US"/>
              <a:t>个月）：前端基本搭建完毕，提供基础评价功能</a:t>
            </a:r>
          </a:p>
          <a:p>
            <a:pPr eaLnBrk="1" hangingPunct="1"/>
            <a:r>
              <a:rPr lang="zh-CN" altLang="en-US"/>
              <a:t>二期（</a:t>
            </a:r>
            <a:r>
              <a:rPr lang="en-US" altLang="zh-CN"/>
              <a:t>1</a:t>
            </a:r>
            <a:r>
              <a:rPr lang="zh-CN" altLang="en-US"/>
              <a:t>个月）：后端</a:t>
            </a:r>
            <a:r>
              <a:rPr lang="en-US" altLang="zh-CN"/>
              <a:t>、</a:t>
            </a:r>
            <a:r>
              <a:rPr lang="zh-CN" altLang="en-US"/>
              <a:t>数据库搭建完毕，继承智能推荐</a:t>
            </a:r>
            <a:r>
              <a:rPr lang="en-US" altLang="zh-CN"/>
              <a:t>+</a:t>
            </a:r>
            <a:r>
              <a:rPr lang="zh-CN" altLang="en-US"/>
              <a:t>营养分析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主界面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2624149"/>
            <a:ext cx="5352953" cy="288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772" y="1880981"/>
            <a:ext cx="2010947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食堂信息浏览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2600981"/>
            <a:ext cx="5352953" cy="288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824" y="1880981"/>
            <a:ext cx="2000842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食堂详细信息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2600981"/>
            <a:ext cx="5352953" cy="288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298" y="1880981"/>
            <a:ext cx="2005895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每日菜单查看及评分</a:t>
            </a:r>
            <a:endParaRPr lang="en-US" altLang="zh-CN" dirty="0"/>
          </a:p>
          <a:p>
            <a:pPr marL="1270" indent="0" eaLnBrk="1" hangingPunct="1">
              <a:buNone/>
            </a:pPr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2600981"/>
            <a:ext cx="5352953" cy="288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805" y="1880981"/>
            <a:ext cx="1998881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包间预约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284" y="1880981"/>
            <a:ext cx="2003551" cy="432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600981"/>
            <a:ext cx="5352953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菜品排行榜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2600981"/>
            <a:ext cx="5352953" cy="288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805" y="1880981"/>
            <a:ext cx="1998881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获取饮食建议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470" y="1880981"/>
            <a:ext cx="2003551" cy="432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600981"/>
            <a:ext cx="5352953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个人中心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2600981"/>
            <a:ext cx="5352953" cy="288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470" y="1880981"/>
            <a:ext cx="2003551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  <a:r>
              <a:rPr lang="en-US" altLang="zh-CN"/>
              <a:t>	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600" eaLnBrk="1" hangingPunct="1">
              <a:defRPr/>
            </a:pPr>
            <a:r>
              <a:rPr lang="zh-CN" altLang="zh-CN" noProof="1"/>
              <a:t>第</a:t>
            </a:r>
            <a:r>
              <a:rPr lang="en-US" altLang="zh-CN" noProof="1"/>
              <a:t>1</a:t>
            </a:r>
            <a:r>
              <a:rPr lang="zh-CN" altLang="en-US" noProof="1"/>
              <a:t>轮总体完成情况</a:t>
            </a:r>
            <a:endParaRPr lang="en-US" altLang="zh-CN" noProof="1"/>
          </a:p>
          <a:p>
            <a:pPr marL="0" indent="0" eaLnBrk="1" hangingPunct="1">
              <a:buNone/>
              <a:defRPr/>
            </a:pPr>
            <a:r>
              <a:rPr lang="en-US" altLang="zh-CN" noProof="1"/>
              <a:t>	</a:t>
            </a:r>
            <a:r>
              <a:rPr lang="zh-CN" altLang="en-US" noProof="1"/>
              <a:t>利用 </a:t>
            </a:r>
            <a:r>
              <a:rPr lang="en-US" altLang="zh-CN" noProof="1"/>
              <a:t>SpringBoot + Vue </a:t>
            </a:r>
            <a:r>
              <a:rPr lang="zh-CN" altLang="en-US" noProof="1"/>
              <a:t>框架进行开发，使用 </a:t>
            </a:r>
            <a:r>
              <a:rPr lang="en-US" altLang="zh-CN" noProof="1"/>
              <a:t>PostgreSQL </a:t>
            </a:r>
            <a:r>
              <a:rPr lang="zh-CN" altLang="en-US" noProof="1"/>
              <a:t>数据库存储后端数据，搭建了一个食堂信息发布系统，实现了基本的</a:t>
            </a:r>
            <a:r>
              <a:rPr lang="zh-CN" altLang="en-US" sz="2000" dirty="0"/>
              <a:t>信息发布、用户互动、健康饮食建议、用户登录和权限管理</a:t>
            </a:r>
            <a:r>
              <a:rPr lang="zh-CN" altLang="en-US" noProof="1"/>
              <a:t>功能，第</a:t>
            </a:r>
            <a:r>
              <a:rPr lang="en-US" altLang="zh-CN" noProof="1"/>
              <a:t>1</a:t>
            </a:r>
            <a:r>
              <a:rPr lang="zh-CN" altLang="en-US" noProof="1"/>
              <a:t>轮迭代任务全部按时完成。</a:t>
            </a:r>
          </a:p>
          <a:p>
            <a:pPr indent="-228600" eaLnBrk="1" hangingPunct="1">
              <a:defRPr/>
            </a:pPr>
            <a:r>
              <a:rPr lang="zh-CN" altLang="en-US" noProof="1"/>
              <a:t>第</a:t>
            </a:r>
            <a:r>
              <a:rPr lang="en-US" altLang="zh-CN" noProof="1"/>
              <a:t>2</a:t>
            </a:r>
            <a:r>
              <a:rPr lang="zh-CN" altLang="en-US" noProof="1"/>
              <a:t>轮需要改进的地方和措施</a:t>
            </a:r>
            <a:endParaRPr lang="en-US" altLang="zh-CN" noProof="1"/>
          </a:p>
          <a:p>
            <a:pPr marL="0" indent="0" eaLnBrk="1" hangingPunct="1">
              <a:buNone/>
              <a:defRPr/>
            </a:pPr>
            <a:r>
              <a:rPr lang="en-US" altLang="zh-CN" noProof="1"/>
              <a:t>	</a:t>
            </a:r>
            <a:r>
              <a:rPr lang="zh-CN" altLang="en-US" noProof="1"/>
              <a:t>完成第</a:t>
            </a:r>
            <a:r>
              <a:rPr lang="en-US" altLang="zh-CN" noProof="1"/>
              <a:t>2</a:t>
            </a:r>
            <a:r>
              <a:rPr lang="zh-CN" altLang="en-US" noProof="1"/>
              <a:t>轮迭代任务，增加更多功能，完善代码逻辑（如界面跳转、路由保护等），优化 </a:t>
            </a:r>
            <a:r>
              <a:rPr lang="en-US" altLang="zh-CN" noProof="1"/>
              <a:t>UI </a:t>
            </a:r>
            <a:r>
              <a:rPr lang="zh-CN" altLang="en-US" noProof="1"/>
              <a:t>界面和交互体验，填充更多数据，进行充分的代码评审和测试。</a:t>
            </a:r>
          </a:p>
          <a:p>
            <a:pPr indent="-228600" eaLnBrk="1" hangingPunct="1">
              <a:defRPr/>
            </a:pPr>
            <a:r>
              <a:rPr lang="zh-CN" altLang="en-US" noProof="1"/>
              <a:t>其他需要说明的事项</a:t>
            </a:r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结束</a:t>
            </a:r>
          </a:p>
        </p:txBody>
      </p:sp>
      <p:sp>
        <p:nvSpPr>
          <p:cNvPr id="2048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fld id="{E48960D5-84C6-4B70-92D8-351CAEB210D2}" type="datetime2">
              <a:rPr lang="zh-CN" altLang="en-US" noProof="1" smtClean="0"/>
              <a:t>2025年6月20日</a:t>
            </a:fld>
            <a:endParaRPr lang="zh-CN" altLang="en-US" noProof="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9*116"/>
  <p:tag name="TABLE_ENDDRAG_RECT" val="50*237*619*116"/>
  <p:tag name="TABLE_AUTOADJUST_FLAG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0*174"/>
  <p:tag name="TABLE_ENDDRAG_RECT" val="79*156*580*174"/>
</p:tagLst>
</file>

<file path=ppt/theme/theme1.xml><?xml version="1.0" encoding="utf-8"?>
<a:theme xmlns:a="http://schemas.openxmlformats.org/drawingml/2006/main" name="1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2498</Words>
  <Application>Microsoft Office PowerPoint</Application>
  <PresentationFormat>全屏显示(4:3)</PresentationFormat>
  <Paragraphs>305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楷体</vt:lpstr>
      <vt:lpstr>楷体_GB2312</vt:lpstr>
      <vt:lpstr>宋体</vt:lpstr>
      <vt:lpstr>微软雅黑</vt:lpstr>
      <vt:lpstr>Arial</vt:lpstr>
      <vt:lpstr>Calibri</vt:lpstr>
      <vt:lpstr>Times New Roman</vt:lpstr>
      <vt:lpstr>Wingdings</vt:lpstr>
      <vt:lpstr>1_CITRUS</vt:lpstr>
      <vt:lpstr>2_CITRUS</vt:lpstr>
      <vt:lpstr>哈工大计算学部2025年春季学期 《软件工程》Project 第1轮 检查汇报</vt:lpstr>
      <vt:lpstr>选题与分组</vt:lpstr>
      <vt:lpstr>对题目的理解</vt:lpstr>
      <vt:lpstr>对题目的理解</vt:lpstr>
      <vt:lpstr>对题目的理解</vt:lpstr>
      <vt:lpstr>功能清单</vt:lpstr>
      <vt:lpstr>功能清单</vt:lpstr>
      <vt:lpstr>功能清单</vt:lpstr>
      <vt:lpstr>非功能需求</vt:lpstr>
      <vt:lpstr>非功能需求</vt:lpstr>
      <vt:lpstr>非功能需求</vt:lpstr>
      <vt:lpstr>非功能需求</vt:lpstr>
      <vt:lpstr>非功能需求</vt:lpstr>
      <vt:lpstr>系统的体系结构构思</vt:lpstr>
      <vt:lpstr>系统开发技术</vt:lpstr>
      <vt:lpstr>系统开发技术</vt:lpstr>
      <vt:lpstr>系统开发技术</vt:lpstr>
      <vt:lpstr>团队分工</vt:lpstr>
      <vt:lpstr>开发进度计划</vt:lpstr>
      <vt:lpstr>开发进度计划</vt:lpstr>
      <vt:lpstr>可行性分析</vt:lpstr>
      <vt:lpstr>可行性分析</vt:lpstr>
      <vt:lpstr>可行性分析</vt:lpstr>
      <vt:lpstr>可行性分析</vt:lpstr>
      <vt:lpstr>可行性分析</vt:lpstr>
      <vt:lpstr>第1轮成果</vt:lpstr>
      <vt:lpstr>第1轮成果</vt:lpstr>
      <vt:lpstr>第1轮成果</vt:lpstr>
      <vt:lpstr>第1轮成果</vt:lpstr>
      <vt:lpstr>第1轮成果</vt:lpstr>
      <vt:lpstr>第1轮成果</vt:lpstr>
      <vt:lpstr>第1轮成果</vt:lpstr>
      <vt:lpstr>第1轮成果</vt:lpstr>
      <vt:lpstr>小结 </vt:lpstr>
      <vt:lpstr>结束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哈尔滨工业大学计算机科学与技术学院 07-08春季学期2005级本科必修课程 软件工程 Software Engineering</dc:title>
  <dc:creator>Wang Zhongjie</dc:creator>
  <cp:lastModifiedBy>子康 刘</cp:lastModifiedBy>
  <cp:revision>463</cp:revision>
  <dcterms:created xsi:type="dcterms:W3CDTF">2025-05-30T07:40:00Z</dcterms:created>
  <dcterms:modified xsi:type="dcterms:W3CDTF">2025-06-20T11:07:45Z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B2418288248AE02F81E45B66F0153367_42</vt:lpwstr>
  </property>
  <property fmtid="{D5CDD505-2E9C-101B-9397-08002B2CF9AE}" pid="3" name="KSOProductBuildVer">
    <vt:lpwstr>2052-12.1.0.20784</vt:lpwstr>
  </property>
</Properties>
</file>